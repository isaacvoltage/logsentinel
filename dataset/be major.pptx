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5143500" cx="9144000"/>
  <p:notesSz cx="6858000" cy="9144000"/>
  <p:embeddedFontLst>
    <p:embeddedFont>
      <p:font typeface="Libre Franklin"/>
      <p:regular r:id="rId20"/>
      <p:bold r:id="rId21"/>
      <p:italic r:id="rId22"/>
      <p:boldItalic r:id="rId23"/>
    </p:embeddedFont>
    <p:embeddedFont>
      <p:font typeface="Libre Baskerville"/>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247157A-9FCA-48C5-9BA8-BDD36C3B0EB2}">
  <a:tblStyle styleId="{1247157A-9FCA-48C5-9BA8-BDD36C3B0EB2}" styleName="Table_0">
    <a:wholeTbl>
      <a:tcTxStyle b="off" i="off">
        <a:font>
          <a:latin typeface="Perpetua"/>
          <a:ea typeface="Perpetua"/>
          <a:cs typeface="Perpetua"/>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67D36C0A-AAA5-4F11-8324-98C63C33686D}"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ibreFranklin-regular.fntdata"/><Relationship Id="rId22" Type="http://schemas.openxmlformats.org/officeDocument/2006/relationships/font" Target="fonts/LibreFranklin-italic.fntdata"/><Relationship Id="rId21" Type="http://schemas.openxmlformats.org/officeDocument/2006/relationships/font" Target="fonts/LibreFranklin-bold.fntdata"/><Relationship Id="rId24" Type="http://schemas.openxmlformats.org/officeDocument/2006/relationships/font" Target="fonts/LibreBaskerville-regular.fntdata"/><Relationship Id="rId23" Type="http://schemas.openxmlformats.org/officeDocument/2006/relationships/font" Target="fonts/LibreFranklin-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LibreBaskerville-italic.fntdata"/><Relationship Id="rId25" Type="http://schemas.openxmlformats.org/officeDocument/2006/relationships/font" Target="fonts/LibreBaskerville-bold.fntdata"/><Relationship Id="rId27" Type="http://schemas.openxmlformats.org/officeDocument/2006/relationships/font" Target="fonts/LibreBaskerville-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320d31b7f_2_102:notes"/>
          <p:cNvSpPr/>
          <p:nvPr>
            <p:ph idx="2" type="sldImg"/>
          </p:nvPr>
        </p:nvSpPr>
        <p:spPr>
          <a:xfrm>
            <a:off x="1852952" y="685800"/>
            <a:ext cx="3152097"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g3f320d31b7f_2_1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g3f320d31b7f_2_10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solidFill>
                  <a:srgbClr val="000000"/>
                </a:solidFill>
              </a:rPr>
              <a:t>‹#›</a:t>
            </a:fld>
            <a:endParaRPr>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320d31b7f_2_114:notes"/>
          <p:cNvSpPr/>
          <p:nvPr>
            <p:ph idx="2" type="sldImg"/>
          </p:nvPr>
        </p:nvSpPr>
        <p:spPr>
          <a:xfrm>
            <a:off x="1852952" y="685800"/>
            <a:ext cx="3152097"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f320d31b7f_2_1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The template given should be strictly adhered to. </a:t>
            </a:r>
            <a:endParaRPr/>
          </a:p>
          <a:p>
            <a:pPr indent="0" lvl="0" marL="0" rtl="0" algn="l">
              <a:lnSpc>
                <a:spcPct val="100000"/>
              </a:lnSpc>
              <a:spcBef>
                <a:spcPts val="0"/>
              </a:spcBef>
              <a:spcAft>
                <a:spcPts val="0"/>
              </a:spcAft>
              <a:buSzPts val="1400"/>
              <a:buNone/>
            </a:pPr>
            <a:r>
              <a:rPr lang="en"/>
              <a:t>If for the sake of explanation the students wants to provide extra animation they are at the liberty to do so. </a:t>
            </a:r>
            <a:endParaRPr/>
          </a:p>
        </p:txBody>
      </p:sp>
      <p:sp>
        <p:nvSpPr>
          <p:cNvPr id="158" name="Google Shape;158;g3f320d31b7f_2_1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solidFill>
                  <a:srgbClr val="000000"/>
                </a:solidFill>
              </a:rPr>
              <a:t>‹#›</a:t>
            </a:fld>
            <a:endParaRPr>
              <a:solidFill>
                <a:srgbClr val="00000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320d31b7f_2_124:notes"/>
          <p:cNvSpPr/>
          <p:nvPr>
            <p:ph idx="2" type="sldImg"/>
          </p:nvPr>
        </p:nvSpPr>
        <p:spPr>
          <a:xfrm>
            <a:off x="1852952" y="685800"/>
            <a:ext cx="3152097"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g3f320d31b7f_2_1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Talk about the domain area briefly</a:t>
            </a:r>
            <a:endParaRPr/>
          </a:p>
          <a:p>
            <a:pPr indent="0" lvl="0" marL="0" rtl="0" algn="l">
              <a:lnSpc>
                <a:spcPct val="100000"/>
              </a:lnSpc>
              <a:spcBef>
                <a:spcPts val="0"/>
              </a:spcBef>
              <a:spcAft>
                <a:spcPts val="0"/>
              </a:spcAft>
              <a:buSzPts val="1400"/>
              <a:buNone/>
            </a:pPr>
            <a:r>
              <a:rPr lang="en"/>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
              <a:t>The </a:t>
            </a:r>
            <a:endParaRPr/>
          </a:p>
        </p:txBody>
      </p:sp>
      <p:sp>
        <p:nvSpPr>
          <p:cNvPr id="169" name="Google Shape;169;g3f320d31b7f_2_1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f7bb788569_1_3:notes"/>
          <p:cNvSpPr/>
          <p:nvPr>
            <p:ph idx="2" type="sldImg"/>
          </p:nvPr>
        </p:nvSpPr>
        <p:spPr>
          <a:xfrm>
            <a:off x="1852952" y="685800"/>
            <a:ext cx="3152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g3f7bb788569_1_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Talk about the domain area briefly</a:t>
            </a:r>
            <a:endParaRPr/>
          </a:p>
          <a:p>
            <a:pPr indent="0" lvl="0" marL="0" rtl="0" algn="l">
              <a:lnSpc>
                <a:spcPct val="100000"/>
              </a:lnSpc>
              <a:spcBef>
                <a:spcPts val="0"/>
              </a:spcBef>
              <a:spcAft>
                <a:spcPts val="0"/>
              </a:spcAft>
              <a:buSzPts val="1400"/>
              <a:buNone/>
            </a:pPr>
            <a:r>
              <a:rPr lang="en"/>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
              <a:t>The </a:t>
            </a:r>
            <a:endParaRPr/>
          </a:p>
        </p:txBody>
      </p:sp>
      <p:sp>
        <p:nvSpPr>
          <p:cNvPr id="180" name="Google Shape;180;g3f7bb788569_1_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f320d31b7f_2_133:notes"/>
          <p:cNvSpPr/>
          <p:nvPr>
            <p:ph idx="2" type="sldImg"/>
          </p:nvPr>
        </p:nvSpPr>
        <p:spPr>
          <a:xfrm>
            <a:off x="1852952" y="685800"/>
            <a:ext cx="3152097"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g3f320d31b7f_2_1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Talk about the domain area briefly</a:t>
            </a:r>
            <a:endParaRPr/>
          </a:p>
          <a:p>
            <a:pPr indent="0" lvl="0" marL="0" rtl="0" algn="l">
              <a:lnSpc>
                <a:spcPct val="100000"/>
              </a:lnSpc>
              <a:spcBef>
                <a:spcPts val="0"/>
              </a:spcBef>
              <a:spcAft>
                <a:spcPts val="0"/>
              </a:spcAft>
              <a:buSzPts val="1400"/>
              <a:buNone/>
            </a:pPr>
            <a:r>
              <a:rPr lang="en"/>
              <a:t>U may choose to use any diagrammatic representations or graphical input to substantiate your views about the problem</a:t>
            </a:r>
            <a:endParaRPr/>
          </a:p>
          <a:p>
            <a:pPr indent="0" lvl="0" marL="0" rtl="0" algn="l">
              <a:lnSpc>
                <a:spcPct val="100000"/>
              </a:lnSpc>
              <a:spcBef>
                <a:spcPts val="0"/>
              </a:spcBef>
              <a:spcAft>
                <a:spcPts val="0"/>
              </a:spcAft>
              <a:buSzPts val="1400"/>
              <a:buNone/>
            </a:pPr>
            <a:r>
              <a:rPr lang="en"/>
              <a:t>The </a:t>
            </a:r>
            <a:endParaRPr/>
          </a:p>
        </p:txBody>
      </p:sp>
      <p:sp>
        <p:nvSpPr>
          <p:cNvPr id="191" name="Google Shape;191;g3f320d31b7f_2_1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320d31b7f_4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f320d31b7f_4_7:notes"/>
          <p:cNvSpPr/>
          <p:nvPr>
            <p:ph idx="2" type="sldImg"/>
          </p:nvPr>
        </p:nvSpPr>
        <p:spPr>
          <a:xfrm>
            <a:off x="1852952" y="685800"/>
            <a:ext cx="3152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f320d31b7f_2_1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g3f320d31b7f_2_142:notes"/>
          <p:cNvSpPr/>
          <p:nvPr>
            <p:ph idx="2" type="sldImg"/>
          </p:nvPr>
        </p:nvSpPr>
        <p:spPr>
          <a:xfrm>
            <a:off x="1852952" y="685800"/>
            <a:ext cx="3152097"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320d31b7f_2_1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g3f320d31b7f_2_151:notes"/>
          <p:cNvSpPr/>
          <p:nvPr>
            <p:ph idx="2" type="sldImg"/>
          </p:nvPr>
        </p:nvSpPr>
        <p:spPr>
          <a:xfrm>
            <a:off x="1852952" y="685800"/>
            <a:ext cx="3152097"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f320d31b7f_2_159:notes"/>
          <p:cNvSpPr/>
          <p:nvPr>
            <p:ph idx="2" type="sldImg"/>
          </p:nvPr>
        </p:nvSpPr>
        <p:spPr>
          <a:xfrm>
            <a:off x="1852952" y="685800"/>
            <a:ext cx="3152097"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3f320d31b7f_2_1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Maximum of two slides. </a:t>
            </a:r>
            <a:endParaRPr/>
          </a:p>
        </p:txBody>
      </p:sp>
      <p:sp>
        <p:nvSpPr>
          <p:cNvPr id="232" name="Google Shape;232;g3f320d31b7f_2_1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f320d31b7f_2_168:notes"/>
          <p:cNvSpPr/>
          <p:nvPr>
            <p:ph idx="2" type="sldImg"/>
          </p:nvPr>
        </p:nvSpPr>
        <p:spPr>
          <a:xfrm>
            <a:off x="1852952" y="685800"/>
            <a:ext cx="3152097"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g3f320d31b7f_2_1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Maximum of two slides. </a:t>
            </a:r>
            <a:endParaRPr/>
          </a:p>
        </p:txBody>
      </p:sp>
      <p:sp>
        <p:nvSpPr>
          <p:cNvPr id="243" name="Google Shape;243;g3f320d31b7f_2_1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320d31b7f_2_177:notes"/>
          <p:cNvSpPr/>
          <p:nvPr>
            <p:ph idx="2" type="sldImg"/>
          </p:nvPr>
        </p:nvSpPr>
        <p:spPr>
          <a:xfrm>
            <a:off x="1852952" y="685800"/>
            <a:ext cx="3152097"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g3f320d31b7f_2_1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If the students feel the necessity of diagrams it may be included. No unwanted information should be put. This may go up to a maximum of 2 slides. </a:t>
            </a:r>
            <a:endParaRPr/>
          </a:p>
        </p:txBody>
      </p:sp>
      <p:sp>
        <p:nvSpPr>
          <p:cNvPr id="255" name="Google Shape;255;g3f320d31b7f_2_1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f320d31b7f_2_185:notes"/>
          <p:cNvSpPr/>
          <p:nvPr>
            <p:ph idx="2" type="sldImg"/>
          </p:nvPr>
        </p:nvSpPr>
        <p:spPr>
          <a:xfrm>
            <a:off x="1852952" y="685800"/>
            <a:ext cx="3152097"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g3f320d31b7f_2_1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g3f320d31b7f_2_18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8" name="Shape 58"/>
        <p:cNvGrpSpPr/>
        <p:nvPr/>
      </p:nvGrpSpPr>
      <p:grpSpPr>
        <a:xfrm>
          <a:off x="0" y="0"/>
          <a:ext cx="0" cy="0"/>
          <a:chOff x="0" y="0"/>
          <a:chExt cx="0" cy="0"/>
        </a:xfrm>
      </p:grpSpPr>
      <p:sp>
        <p:nvSpPr>
          <p:cNvPr id="59" name="Google Shape;59;p14"/>
          <p:cNvSpPr txBox="1"/>
          <p:nvPr>
            <p:ph type="title"/>
          </p:nvPr>
        </p:nvSpPr>
        <p:spPr>
          <a:xfrm>
            <a:off x="914400" y="205978"/>
            <a:ext cx="7772400" cy="85725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4"/>
          <p:cNvSpPr txBox="1"/>
          <p:nvPr>
            <p:ph idx="10" type="dt"/>
          </p:nvPr>
        </p:nvSpPr>
        <p:spPr>
          <a:xfrm>
            <a:off x="6172200" y="4643438"/>
            <a:ext cx="2476500" cy="35718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4"/>
          <p:cNvSpPr txBox="1"/>
          <p:nvPr>
            <p:ph idx="11" type="ftr"/>
          </p:nvPr>
        </p:nvSpPr>
        <p:spPr>
          <a:xfrm>
            <a:off x="914400" y="4629150"/>
            <a:ext cx="3962400" cy="342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4"/>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
              <a:t>‹#›</a:t>
            </a:fld>
            <a:endParaRPr/>
          </a:p>
        </p:txBody>
      </p:sp>
      <p:sp>
        <p:nvSpPr>
          <p:cNvPr id="63" name="Google Shape;63;p14"/>
          <p:cNvSpPr txBox="1"/>
          <p:nvPr>
            <p:ph idx="1" type="body"/>
          </p:nvPr>
        </p:nvSpPr>
        <p:spPr>
          <a:xfrm>
            <a:off x="914400" y="1085850"/>
            <a:ext cx="7772400" cy="34290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40"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blip>
          <a:tile algn="tl" flip="none" tx="0" sx="55000" ty="0" sy="55000"/>
        </a:blipFill>
      </p:bgPr>
    </p:bg>
    <p:spTree>
      <p:nvGrpSpPr>
        <p:cNvPr id="64" name="Shape 64"/>
        <p:cNvGrpSpPr/>
        <p:nvPr/>
      </p:nvGrpSpPr>
      <p:grpSpPr>
        <a:xfrm>
          <a:off x="0" y="0"/>
          <a:ext cx="0" cy="0"/>
          <a:chOff x="0" y="0"/>
          <a:chExt cx="0" cy="0"/>
        </a:xfrm>
      </p:grpSpPr>
      <p:sp>
        <p:nvSpPr>
          <p:cNvPr id="65" name="Google Shape;65;p15"/>
          <p:cNvSpPr/>
          <p:nvPr/>
        </p:nvSpPr>
        <p:spPr>
          <a:xfrm>
            <a:off x="0" y="0"/>
            <a:ext cx="9144000" cy="5143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66" name="Google Shape;66;p15"/>
          <p:cNvSpPr/>
          <p:nvPr/>
        </p:nvSpPr>
        <p:spPr>
          <a:xfrm>
            <a:off x="65313" y="52316"/>
            <a:ext cx="9013372" cy="501915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67" name="Google Shape;67;p15"/>
          <p:cNvSpPr txBox="1"/>
          <p:nvPr>
            <p:ph idx="1" type="subTitle"/>
          </p:nvPr>
        </p:nvSpPr>
        <p:spPr>
          <a:xfrm>
            <a:off x="1295400" y="2400300"/>
            <a:ext cx="6400800" cy="12001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580"/>
              </a:spcBef>
              <a:spcAft>
                <a:spcPts val="0"/>
              </a:spcAft>
              <a:buSzPts val="2210"/>
              <a:buNone/>
              <a:defRPr sz="2600">
                <a:solidFill>
                  <a:schemeClr val="dk2"/>
                </a:solidFill>
              </a:defRPr>
            </a:lvl1pPr>
            <a:lvl2pPr lvl="1" algn="ctr">
              <a:lnSpc>
                <a:spcPct val="100000"/>
              </a:lnSpc>
              <a:spcBef>
                <a:spcPts val="370"/>
              </a:spcBef>
              <a:spcAft>
                <a:spcPts val="0"/>
              </a:spcAft>
              <a:buSzPts val="1530"/>
              <a:buNone/>
              <a:defRPr/>
            </a:lvl2pPr>
            <a:lvl3pPr lvl="2" algn="ctr">
              <a:lnSpc>
                <a:spcPct val="100000"/>
              </a:lnSpc>
              <a:spcBef>
                <a:spcPts val="370"/>
              </a:spcBef>
              <a:spcAft>
                <a:spcPts val="0"/>
              </a:spcAft>
              <a:buSzPts val="1530"/>
              <a:buNone/>
              <a:defRPr/>
            </a:lvl3pPr>
            <a:lvl4pPr lvl="3" algn="ctr">
              <a:lnSpc>
                <a:spcPct val="100000"/>
              </a:lnSpc>
              <a:spcBef>
                <a:spcPts val="370"/>
              </a:spcBef>
              <a:spcAft>
                <a:spcPts val="0"/>
              </a:spcAft>
              <a:buSzPts val="1440"/>
              <a:buNone/>
              <a:defRPr/>
            </a:lvl4pPr>
            <a:lvl5pPr lvl="4" algn="ctr">
              <a:lnSpc>
                <a:spcPct val="100000"/>
              </a:lnSpc>
              <a:spcBef>
                <a:spcPts val="370"/>
              </a:spcBef>
              <a:spcAft>
                <a:spcPts val="0"/>
              </a:spcAft>
              <a:buSzPts val="1800"/>
              <a:buNone/>
              <a:defRPr/>
            </a:lvl5pPr>
            <a:lvl6pPr lvl="5" algn="ctr">
              <a:lnSpc>
                <a:spcPct val="100000"/>
              </a:lnSpc>
              <a:spcBef>
                <a:spcPts val="370"/>
              </a:spcBef>
              <a:spcAft>
                <a:spcPts val="0"/>
              </a:spcAft>
              <a:buSzPts val="1800"/>
              <a:buNone/>
              <a:defRPr/>
            </a:lvl6pPr>
            <a:lvl7pPr lvl="6" algn="ctr">
              <a:lnSpc>
                <a:spcPct val="100000"/>
              </a:lnSpc>
              <a:spcBef>
                <a:spcPts val="370"/>
              </a:spcBef>
              <a:spcAft>
                <a:spcPts val="0"/>
              </a:spcAft>
              <a:buSzPts val="1800"/>
              <a:buNone/>
              <a:defRPr/>
            </a:lvl7pPr>
            <a:lvl8pPr lvl="7" algn="ctr">
              <a:lnSpc>
                <a:spcPct val="100000"/>
              </a:lnSpc>
              <a:spcBef>
                <a:spcPts val="370"/>
              </a:spcBef>
              <a:spcAft>
                <a:spcPts val="0"/>
              </a:spcAft>
              <a:buSzPts val="1800"/>
              <a:buNone/>
              <a:defRPr/>
            </a:lvl8pPr>
            <a:lvl9pPr lvl="8" algn="ctr">
              <a:lnSpc>
                <a:spcPct val="100000"/>
              </a:lnSpc>
              <a:spcBef>
                <a:spcPts val="370"/>
              </a:spcBef>
              <a:spcAft>
                <a:spcPts val="0"/>
              </a:spcAft>
              <a:buSzPts val="1800"/>
              <a:buNone/>
              <a:defRPr/>
            </a:lvl9pPr>
          </a:lstStyle>
          <a:p/>
        </p:txBody>
      </p:sp>
      <p:sp>
        <p:nvSpPr>
          <p:cNvPr id="68" name="Google Shape;68;p15"/>
          <p:cNvSpPr txBox="1"/>
          <p:nvPr>
            <p:ph idx="10" type="dt"/>
          </p:nvPr>
        </p:nvSpPr>
        <p:spPr>
          <a:xfrm>
            <a:off x="6172200" y="4643438"/>
            <a:ext cx="2476500" cy="35718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5"/>
          <p:cNvSpPr txBox="1"/>
          <p:nvPr>
            <p:ph idx="11" type="ftr"/>
          </p:nvPr>
        </p:nvSpPr>
        <p:spPr>
          <a:xfrm>
            <a:off x="914400" y="4629150"/>
            <a:ext cx="3962400" cy="342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5"/>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
              <a:t>‹#›</a:t>
            </a:fld>
            <a:endParaRPr/>
          </a:p>
        </p:txBody>
      </p:sp>
      <p:sp>
        <p:nvSpPr>
          <p:cNvPr id="71" name="Google Shape;71;p15"/>
          <p:cNvSpPr/>
          <p:nvPr/>
        </p:nvSpPr>
        <p:spPr>
          <a:xfrm>
            <a:off x="62931" y="1086977"/>
            <a:ext cx="9021537" cy="114551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72" name="Google Shape;72;p15"/>
          <p:cNvSpPr/>
          <p:nvPr/>
        </p:nvSpPr>
        <p:spPr>
          <a:xfrm>
            <a:off x="62931" y="1047540"/>
            <a:ext cx="9021537" cy="90435"/>
          </a:xfrm>
          <a:prstGeom prst="rect">
            <a:avLst/>
          </a:prstGeom>
          <a:solidFill>
            <a:srgbClr val="B1C0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73" name="Google Shape;73;p15"/>
          <p:cNvSpPr/>
          <p:nvPr/>
        </p:nvSpPr>
        <p:spPr>
          <a:xfrm>
            <a:off x="62931" y="2232487"/>
            <a:ext cx="9021537" cy="82899"/>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74" name="Google Shape;74;p15"/>
          <p:cNvSpPr txBox="1"/>
          <p:nvPr>
            <p:ph type="ctrTitle"/>
          </p:nvPr>
        </p:nvSpPr>
        <p:spPr>
          <a:xfrm>
            <a:off x="457200" y="1129447"/>
            <a:ext cx="8229600" cy="1102519"/>
          </a:xfrm>
          <a:prstGeom prst="rect">
            <a:avLst/>
          </a:prstGeom>
          <a:noFill/>
          <a:ln>
            <a:noFill/>
          </a:ln>
        </p:spPr>
        <p:txBody>
          <a:bodyPr anchorCtr="0" anchor="ctr" bIns="91425" lIns="91425" spcFirstLastPara="1" rIns="91425" wrap="square" tIns="45700">
            <a:normAutofit/>
          </a:bodyPr>
          <a:lstStyle>
            <a:lvl1pPr lvl="0" algn="ctr">
              <a:lnSpc>
                <a:spcPct val="100000"/>
              </a:lnSpc>
              <a:spcBef>
                <a:spcPts val="0"/>
              </a:spcBef>
              <a:spcAft>
                <a:spcPts val="0"/>
              </a:spcAft>
              <a:buClr>
                <a:srgbClr val="FFFFFF"/>
              </a:buClr>
              <a:buSzPts val="4000"/>
              <a:buFont typeface="Libre Franklin"/>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tile algn="tl" flip="none" tx="0" sx="55000" ty="0" sy="55000"/>
        </a:blipFill>
      </p:bgPr>
    </p:bg>
    <p:spTree>
      <p:nvGrpSpPr>
        <p:cNvPr id="75" name="Shape 75"/>
        <p:cNvGrpSpPr/>
        <p:nvPr/>
      </p:nvGrpSpPr>
      <p:grpSpPr>
        <a:xfrm>
          <a:off x="0" y="0"/>
          <a:ext cx="0" cy="0"/>
          <a:chOff x="0" y="0"/>
          <a:chExt cx="0" cy="0"/>
        </a:xfrm>
      </p:grpSpPr>
      <p:sp>
        <p:nvSpPr>
          <p:cNvPr id="76" name="Google Shape;76;p16"/>
          <p:cNvSpPr/>
          <p:nvPr/>
        </p:nvSpPr>
        <p:spPr>
          <a:xfrm>
            <a:off x="0" y="0"/>
            <a:ext cx="9144000" cy="5143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77" name="Google Shape;77;p16"/>
          <p:cNvSpPr/>
          <p:nvPr/>
        </p:nvSpPr>
        <p:spPr>
          <a:xfrm>
            <a:off x="65313" y="52316"/>
            <a:ext cx="9013372" cy="501915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78" name="Google Shape;78;p16"/>
          <p:cNvSpPr txBox="1"/>
          <p:nvPr>
            <p:ph type="title"/>
          </p:nvPr>
        </p:nvSpPr>
        <p:spPr>
          <a:xfrm>
            <a:off x="722313" y="714375"/>
            <a:ext cx="7772400" cy="1021556"/>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4000"/>
              <a:buFont typeface="Libre Franklin"/>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6"/>
          <p:cNvSpPr txBox="1"/>
          <p:nvPr>
            <p:ph idx="1" type="body"/>
          </p:nvPr>
        </p:nvSpPr>
        <p:spPr>
          <a:xfrm>
            <a:off x="722313" y="1910954"/>
            <a:ext cx="7772400" cy="10036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80"/>
              </a:spcBef>
              <a:spcAft>
                <a:spcPts val="0"/>
              </a:spcAft>
              <a:buSzPts val="2040"/>
              <a:buNone/>
              <a:defRPr sz="2400">
                <a:solidFill>
                  <a:srgbClr val="888888"/>
                </a:solidFill>
              </a:defRPr>
            </a:lvl1pPr>
            <a:lvl2pPr indent="-228600" lvl="1" marL="914400" algn="l">
              <a:lnSpc>
                <a:spcPct val="100000"/>
              </a:lnSpc>
              <a:spcBef>
                <a:spcPts val="370"/>
              </a:spcBef>
              <a:spcAft>
                <a:spcPts val="0"/>
              </a:spcAft>
              <a:buSzPts val="1530"/>
              <a:buNone/>
              <a:defRPr sz="1800">
                <a:solidFill>
                  <a:srgbClr val="888888"/>
                </a:solidFill>
              </a:defRPr>
            </a:lvl2pPr>
            <a:lvl3pPr indent="-228600" lvl="2" marL="1371600" algn="l">
              <a:lnSpc>
                <a:spcPct val="100000"/>
              </a:lnSpc>
              <a:spcBef>
                <a:spcPts val="370"/>
              </a:spcBef>
              <a:spcAft>
                <a:spcPts val="0"/>
              </a:spcAft>
              <a:buSzPts val="1360"/>
              <a:buNone/>
              <a:defRPr sz="1600">
                <a:solidFill>
                  <a:srgbClr val="888888"/>
                </a:solidFill>
              </a:defRPr>
            </a:lvl3pPr>
            <a:lvl4pPr indent="-228600" lvl="3" marL="1828800" algn="l">
              <a:lnSpc>
                <a:spcPct val="100000"/>
              </a:lnSpc>
              <a:spcBef>
                <a:spcPts val="370"/>
              </a:spcBef>
              <a:spcAft>
                <a:spcPts val="0"/>
              </a:spcAft>
              <a:buSzPts val="1120"/>
              <a:buNone/>
              <a:defRPr sz="1400">
                <a:solidFill>
                  <a:srgbClr val="888888"/>
                </a:solidFill>
              </a:defRPr>
            </a:lvl4pPr>
            <a:lvl5pPr indent="-228600" lvl="4" marL="2286000" algn="l">
              <a:lnSpc>
                <a:spcPct val="100000"/>
              </a:lnSpc>
              <a:spcBef>
                <a:spcPts val="370"/>
              </a:spcBef>
              <a:spcAft>
                <a:spcPts val="0"/>
              </a:spcAft>
              <a:buSzPts val="1400"/>
              <a:buFont typeface="Libre Baskerville"/>
              <a:buNone/>
              <a:defRPr sz="1400">
                <a:solidFill>
                  <a:srgbClr val="888888"/>
                </a:solidFill>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80" name="Google Shape;80;p16"/>
          <p:cNvSpPr txBox="1"/>
          <p:nvPr>
            <p:ph idx="10" type="dt"/>
          </p:nvPr>
        </p:nvSpPr>
        <p:spPr>
          <a:xfrm>
            <a:off x="6172200" y="4643438"/>
            <a:ext cx="2476500" cy="35718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6"/>
          <p:cNvSpPr txBox="1"/>
          <p:nvPr>
            <p:ph idx="11" type="ftr"/>
          </p:nvPr>
        </p:nvSpPr>
        <p:spPr>
          <a:xfrm>
            <a:off x="800100" y="4629150"/>
            <a:ext cx="4000500" cy="342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6"/>
          <p:cNvSpPr/>
          <p:nvPr/>
        </p:nvSpPr>
        <p:spPr>
          <a:xfrm flipH="1" rot="10800000">
            <a:off x="69412" y="1782622"/>
            <a:ext cx="9013515" cy="6858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83" name="Google Shape;83;p16"/>
          <p:cNvSpPr/>
          <p:nvPr/>
        </p:nvSpPr>
        <p:spPr>
          <a:xfrm>
            <a:off x="69146" y="1756106"/>
            <a:ext cx="9013781" cy="34289"/>
          </a:xfrm>
          <a:prstGeom prst="rect">
            <a:avLst/>
          </a:prstGeom>
          <a:solidFill>
            <a:srgbClr val="B1C0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84" name="Google Shape;84;p16"/>
          <p:cNvSpPr/>
          <p:nvPr/>
        </p:nvSpPr>
        <p:spPr>
          <a:xfrm>
            <a:off x="68306" y="1851660"/>
            <a:ext cx="9014621" cy="3429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85" name="Google Shape;85;p16"/>
          <p:cNvSpPr/>
          <p:nvPr>
            <p:ph idx="12" type="sldNum"/>
          </p:nvPr>
        </p:nvSpPr>
        <p:spPr>
          <a:xfrm>
            <a:off x="146304" y="4656582"/>
            <a:ext cx="457200" cy="3429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6" name="Shape 86"/>
        <p:cNvGrpSpPr/>
        <p:nvPr/>
      </p:nvGrpSpPr>
      <p:grpSpPr>
        <a:xfrm>
          <a:off x="0" y="0"/>
          <a:ext cx="0" cy="0"/>
          <a:chOff x="0" y="0"/>
          <a:chExt cx="0" cy="0"/>
        </a:xfrm>
      </p:grpSpPr>
      <p:sp>
        <p:nvSpPr>
          <p:cNvPr id="87" name="Google Shape;87;p17"/>
          <p:cNvSpPr txBox="1"/>
          <p:nvPr>
            <p:ph type="title"/>
          </p:nvPr>
        </p:nvSpPr>
        <p:spPr>
          <a:xfrm>
            <a:off x="914400" y="205978"/>
            <a:ext cx="7772400" cy="85725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7"/>
          <p:cNvSpPr txBox="1"/>
          <p:nvPr>
            <p:ph idx="10" type="dt"/>
          </p:nvPr>
        </p:nvSpPr>
        <p:spPr>
          <a:xfrm>
            <a:off x="6172200" y="4643438"/>
            <a:ext cx="2476500" cy="35718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7"/>
          <p:cNvSpPr txBox="1"/>
          <p:nvPr>
            <p:ph idx="11" type="ftr"/>
          </p:nvPr>
        </p:nvSpPr>
        <p:spPr>
          <a:xfrm>
            <a:off x="914400" y="4629150"/>
            <a:ext cx="3962400" cy="342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
              <a:t>‹#›</a:t>
            </a:fld>
            <a:endParaRPr/>
          </a:p>
        </p:txBody>
      </p:sp>
      <p:sp>
        <p:nvSpPr>
          <p:cNvPr id="91" name="Google Shape;91;p17"/>
          <p:cNvSpPr txBox="1"/>
          <p:nvPr>
            <p:ph idx="1" type="body"/>
          </p:nvPr>
        </p:nvSpPr>
        <p:spPr>
          <a:xfrm>
            <a:off x="914400" y="1085850"/>
            <a:ext cx="3749040" cy="34290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40"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92" name="Google Shape;92;p17"/>
          <p:cNvSpPr txBox="1"/>
          <p:nvPr>
            <p:ph idx="2" type="body"/>
          </p:nvPr>
        </p:nvSpPr>
        <p:spPr>
          <a:xfrm>
            <a:off x="4933950" y="1085850"/>
            <a:ext cx="3749040" cy="34290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40"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3" name="Shape 93"/>
        <p:cNvGrpSpPr/>
        <p:nvPr/>
      </p:nvGrpSpPr>
      <p:grpSpPr>
        <a:xfrm>
          <a:off x="0" y="0"/>
          <a:ext cx="0" cy="0"/>
          <a:chOff x="0" y="0"/>
          <a:chExt cx="0" cy="0"/>
        </a:xfrm>
      </p:grpSpPr>
      <p:sp>
        <p:nvSpPr>
          <p:cNvPr id="94" name="Google Shape;94;p18"/>
          <p:cNvSpPr txBox="1"/>
          <p:nvPr>
            <p:ph type="title"/>
          </p:nvPr>
        </p:nvSpPr>
        <p:spPr>
          <a:xfrm>
            <a:off x="914400" y="204788"/>
            <a:ext cx="7772400" cy="85725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4000"/>
              <a:buFont typeface="Libre Franklin"/>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8"/>
          <p:cNvSpPr txBox="1"/>
          <p:nvPr>
            <p:ph idx="1" type="body"/>
          </p:nvPr>
        </p:nvSpPr>
        <p:spPr>
          <a:xfrm>
            <a:off x="914400" y="1085850"/>
            <a:ext cx="3733800" cy="5715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lnSpc>
                <a:spcPct val="100000"/>
              </a:lnSpc>
              <a:spcBef>
                <a:spcPts val="370"/>
              </a:spcBef>
              <a:spcAft>
                <a:spcPts val="0"/>
              </a:spcAft>
              <a:buSzPts val="1700"/>
              <a:buNone/>
              <a:defRPr b="1" sz="2000"/>
            </a:lvl2pPr>
            <a:lvl3pPr indent="-228600" lvl="2" marL="1371600" algn="l">
              <a:lnSpc>
                <a:spcPct val="100000"/>
              </a:lnSpc>
              <a:spcBef>
                <a:spcPts val="370"/>
              </a:spcBef>
              <a:spcAft>
                <a:spcPts val="0"/>
              </a:spcAft>
              <a:buSzPts val="1530"/>
              <a:buNone/>
              <a:defRPr b="1" sz="1800"/>
            </a:lvl3pPr>
            <a:lvl4pPr indent="-228600" lvl="3" marL="1828800" algn="l">
              <a:lnSpc>
                <a:spcPct val="100000"/>
              </a:lnSpc>
              <a:spcBef>
                <a:spcPts val="370"/>
              </a:spcBef>
              <a:spcAft>
                <a:spcPts val="0"/>
              </a:spcAft>
              <a:buSzPts val="1280"/>
              <a:buNone/>
              <a:defRPr b="1" sz="1600"/>
            </a:lvl4pPr>
            <a:lvl5pPr indent="-228600" lvl="4" marL="2286000" algn="l">
              <a:lnSpc>
                <a:spcPct val="100000"/>
              </a:lnSpc>
              <a:spcBef>
                <a:spcPts val="370"/>
              </a:spcBef>
              <a:spcAft>
                <a:spcPts val="0"/>
              </a:spcAft>
              <a:buSzPts val="1600"/>
              <a:buFont typeface="Libre Baskerville"/>
              <a:buNone/>
              <a:defRPr b="1" sz="16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96" name="Google Shape;96;p18"/>
          <p:cNvSpPr txBox="1"/>
          <p:nvPr>
            <p:ph idx="2" type="body"/>
          </p:nvPr>
        </p:nvSpPr>
        <p:spPr>
          <a:xfrm>
            <a:off x="4953000" y="1085850"/>
            <a:ext cx="3733800" cy="5715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lnSpc>
                <a:spcPct val="100000"/>
              </a:lnSpc>
              <a:spcBef>
                <a:spcPts val="370"/>
              </a:spcBef>
              <a:spcAft>
                <a:spcPts val="0"/>
              </a:spcAft>
              <a:buSzPts val="1700"/>
              <a:buNone/>
              <a:defRPr b="1" sz="2000"/>
            </a:lvl2pPr>
            <a:lvl3pPr indent="-228600" lvl="2" marL="1371600" algn="l">
              <a:lnSpc>
                <a:spcPct val="100000"/>
              </a:lnSpc>
              <a:spcBef>
                <a:spcPts val="370"/>
              </a:spcBef>
              <a:spcAft>
                <a:spcPts val="0"/>
              </a:spcAft>
              <a:buSzPts val="1530"/>
              <a:buNone/>
              <a:defRPr b="1" sz="1800"/>
            </a:lvl3pPr>
            <a:lvl4pPr indent="-228600" lvl="3" marL="1828800" algn="l">
              <a:lnSpc>
                <a:spcPct val="100000"/>
              </a:lnSpc>
              <a:spcBef>
                <a:spcPts val="370"/>
              </a:spcBef>
              <a:spcAft>
                <a:spcPts val="0"/>
              </a:spcAft>
              <a:buSzPts val="1280"/>
              <a:buNone/>
              <a:defRPr b="1" sz="1600"/>
            </a:lvl4pPr>
            <a:lvl5pPr indent="-228600" lvl="4" marL="2286000" algn="l">
              <a:lnSpc>
                <a:spcPct val="100000"/>
              </a:lnSpc>
              <a:spcBef>
                <a:spcPts val="370"/>
              </a:spcBef>
              <a:spcAft>
                <a:spcPts val="0"/>
              </a:spcAft>
              <a:buSzPts val="1600"/>
              <a:buFont typeface="Libre Baskerville"/>
              <a:buNone/>
              <a:defRPr b="1" sz="16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97" name="Google Shape;97;p18"/>
          <p:cNvSpPr txBox="1"/>
          <p:nvPr>
            <p:ph idx="10" type="dt"/>
          </p:nvPr>
        </p:nvSpPr>
        <p:spPr>
          <a:xfrm>
            <a:off x="6172200" y="4643438"/>
            <a:ext cx="2476500" cy="35718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8"/>
          <p:cNvSpPr txBox="1"/>
          <p:nvPr>
            <p:ph idx="11" type="ftr"/>
          </p:nvPr>
        </p:nvSpPr>
        <p:spPr>
          <a:xfrm>
            <a:off x="914400" y="4629150"/>
            <a:ext cx="3962400" cy="342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8"/>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
              <a:t>‹#›</a:t>
            </a:fld>
            <a:endParaRPr/>
          </a:p>
        </p:txBody>
      </p:sp>
      <p:sp>
        <p:nvSpPr>
          <p:cNvPr id="100" name="Google Shape;100;p18"/>
          <p:cNvSpPr txBox="1"/>
          <p:nvPr>
            <p:ph idx="3" type="body"/>
          </p:nvPr>
        </p:nvSpPr>
        <p:spPr>
          <a:xfrm>
            <a:off x="914400" y="1685925"/>
            <a:ext cx="3733800" cy="291465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40"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101" name="Google Shape;101;p18"/>
          <p:cNvSpPr txBox="1"/>
          <p:nvPr>
            <p:ph idx="4" type="body"/>
          </p:nvPr>
        </p:nvSpPr>
        <p:spPr>
          <a:xfrm>
            <a:off x="4953000" y="1685925"/>
            <a:ext cx="3733800" cy="291465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40"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p19"/>
          <p:cNvSpPr txBox="1"/>
          <p:nvPr>
            <p:ph type="title"/>
          </p:nvPr>
        </p:nvSpPr>
        <p:spPr>
          <a:xfrm>
            <a:off x="914400" y="205978"/>
            <a:ext cx="7772400" cy="85725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9"/>
          <p:cNvSpPr txBox="1"/>
          <p:nvPr>
            <p:ph idx="10" type="dt"/>
          </p:nvPr>
        </p:nvSpPr>
        <p:spPr>
          <a:xfrm>
            <a:off x="6172200" y="4643438"/>
            <a:ext cx="2476500" cy="35718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19"/>
          <p:cNvSpPr txBox="1"/>
          <p:nvPr>
            <p:ph idx="11" type="ftr"/>
          </p:nvPr>
        </p:nvSpPr>
        <p:spPr>
          <a:xfrm>
            <a:off x="914400" y="4629150"/>
            <a:ext cx="3962400" cy="342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9"/>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 name="Shape 107"/>
        <p:cNvGrpSpPr/>
        <p:nvPr/>
      </p:nvGrpSpPr>
      <p:grpSpPr>
        <a:xfrm>
          <a:off x="0" y="0"/>
          <a:ext cx="0" cy="0"/>
          <a:chOff x="0" y="0"/>
          <a:chExt cx="0" cy="0"/>
        </a:xfrm>
      </p:grpSpPr>
      <p:sp>
        <p:nvSpPr>
          <p:cNvPr id="108" name="Google Shape;108;p20"/>
          <p:cNvSpPr txBox="1"/>
          <p:nvPr>
            <p:ph idx="10" type="dt"/>
          </p:nvPr>
        </p:nvSpPr>
        <p:spPr>
          <a:xfrm>
            <a:off x="6172200" y="4643438"/>
            <a:ext cx="2476500" cy="35718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20"/>
          <p:cNvSpPr txBox="1"/>
          <p:nvPr>
            <p:ph idx="11" type="ftr"/>
          </p:nvPr>
        </p:nvSpPr>
        <p:spPr>
          <a:xfrm>
            <a:off x="914400" y="4629150"/>
            <a:ext cx="3962400" cy="342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20"/>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1" name="Shape 111"/>
        <p:cNvGrpSpPr/>
        <p:nvPr/>
      </p:nvGrpSpPr>
      <p:grpSpPr>
        <a:xfrm>
          <a:off x="0" y="0"/>
          <a:ext cx="0" cy="0"/>
          <a:chOff x="0" y="0"/>
          <a:chExt cx="0" cy="0"/>
        </a:xfrm>
      </p:grpSpPr>
      <p:sp>
        <p:nvSpPr>
          <p:cNvPr id="112" name="Google Shape;112;p21"/>
          <p:cNvSpPr/>
          <p:nvPr/>
        </p:nvSpPr>
        <p:spPr>
          <a:xfrm>
            <a:off x="0" y="0"/>
            <a:ext cx="9144000" cy="5143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113" name="Google Shape;113;p21"/>
          <p:cNvSpPr/>
          <p:nvPr/>
        </p:nvSpPr>
        <p:spPr>
          <a:xfrm>
            <a:off x="64008" y="52316"/>
            <a:ext cx="9013372" cy="5020056"/>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114" name="Google Shape;114;p21"/>
          <p:cNvSpPr txBox="1"/>
          <p:nvPr>
            <p:ph type="title"/>
          </p:nvPr>
        </p:nvSpPr>
        <p:spPr>
          <a:xfrm>
            <a:off x="914400" y="204788"/>
            <a:ext cx="7772400" cy="85725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4000"/>
              <a:buFont typeface="Libre Franklin"/>
              <a:buNone/>
              <a:defRPr b="0"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21"/>
          <p:cNvSpPr txBox="1"/>
          <p:nvPr>
            <p:ph idx="1" type="body"/>
          </p:nvPr>
        </p:nvSpPr>
        <p:spPr>
          <a:xfrm>
            <a:off x="914400" y="1200150"/>
            <a:ext cx="1905000" cy="33718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80"/>
              </a:spcBef>
              <a:spcAft>
                <a:spcPts val="0"/>
              </a:spcAft>
              <a:buSzPts val="1530"/>
              <a:buNone/>
              <a:defRPr sz="1800"/>
            </a:lvl1pPr>
            <a:lvl2pPr indent="-228600" lvl="1" marL="914400" algn="l">
              <a:lnSpc>
                <a:spcPct val="100000"/>
              </a:lnSpc>
              <a:spcBef>
                <a:spcPts val="370"/>
              </a:spcBef>
              <a:spcAft>
                <a:spcPts val="0"/>
              </a:spcAft>
              <a:buSzPts val="1020"/>
              <a:buNone/>
              <a:defRPr sz="1200"/>
            </a:lvl2pPr>
            <a:lvl3pPr indent="-228600" lvl="2" marL="1371600" algn="l">
              <a:lnSpc>
                <a:spcPct val="100000"/>
              </a:lnSpc>
              <a:spcBef>
                <a:spcPts val="370"/>
              </a:spcBef>
              <a:spcAft>
                <a:spcPts val="0"/>
              </a:spcAft>
              <a:buSzPts val="850"/>
              <a:buNone/>
              <a:defRPr sz="1000"/>
            </a:lvl3pPr>
            <a:lvl4pPr indent="-228600" lvl="3" marL="1828800" algn="l">
              <a:lnSpc>
                <a:spcPct val="100000"/>
              </a:lnSpc>
              <a:spcBef>
                <a:spcPts val="370"/>
              </a:spcBef>
              <a:spcAft>
                <a:spcPts val="0"/>
              </a:spcAft>
              <a:buSzPts val="720"/>
              <a:buNone/>
              <a:defRPr sz="900"/>
            </a:lvl4pPr>
            <a:lvl5pPr indent="-228600" lvl="4" marL="2286000" algn="l">
              <a:lnSpc>
                <a:spcPct val="100000"/>
              </a:lnSpc>
              <a:spcBef>
                <a:spcPts val="370"/>
              </a:spcBef>
              <a:spcAft>
                <a:spcPts val="0"/>
              </a:spcAft>
              <a:buSzPts val="900"/>
              <a:buFont typeface="Libre Baskerville"/>
              <a:buNone/>
              <a:defRPr sz="9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116" name="Google Shape;116;p21"/>
          <p:cNvSpPr txBox="1"/>
          <p:nvPr>
            <p:ph idx="10" type="dt"/>
          </p:nvPr>
        </p:nvSpPr>
        <p:spPr>
          <a:xfrm>
            <a:off x="6172200" y="4643438"/>
            <a:ext cx="2476500" cy="35718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21"/>
          <p:cNvSpPr txBox="1"/>
          <p:nvPr>
            <p:ph idx="11" type="ftr"/>
          </p:nvPr>
        </p:nvSpPr>
        <p:spPr>
          <a:xfrm>
            <a:off x="914400" y="4629150"/>
            <a:ext cx="3962400" cy="342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1"/>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
              <a:t>‹#›</a:t>
            </a:fld>
            <a:endParaRPr/>
          </a:p>
        </p:txBody>
      </p:sp>
      <p:sp>
        <p:nvSpPr>
          <p:cNvPr id="119" name="Google Shape;119;p21"/>
          <p:cNvSpPr txBox="1"/>
          <p:nvPr>
            <p:ph idx="2" type="body"/>
          </p:nvPr>
        </p:nvSpPr>
        <p:spPr>
          <a:xfrm>
            <a:off x="2971800" y="1200150"/>
            <a:ext cx="5715000" cy="337185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40"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0" name="Shape 120"/>
        <p:cNvGrpSpPr/>
        <p:nvPr/>
      </p:nvGrpSpPr>
      <p:grpSpPr>
        <a:xfrm>
          <a:off x="0" y="0"/>
          <a:ext cx="0" cy="0"/>
          <a:chOff x="0" y="0"/>
          <a:chExt cx="0" cy="0"/>
        </a:xfrm>
      </p:grpSpPr>
      <p:sp>
        <p:nvSpPr>
          <p:cNvPr id="121" name="Google Shape;121;p22"/>
          <p:cNvSpPr txBox="1"/>
          <p:nvPr>
            <p:ph type="title"/>
          </p:nvPr>
        </p:nvSpPr>
        <p:spPr>
          <a:xfrm>
            <a:off x="914400" y="3675413"/>
            <a:ext cx="7315200" cy="391716"/>
          </a:xfrm>
          <a:prstGeom prst="rect">
            <a:avLst/>
          </a:prstGeom>
          <a:noFill/>
          <a:ln>
            <a:noFill/>
          </a:ln>
        </p:spPr>
        <p:txBody>
          <a:bodyPr anchorCtr="0" anchor="ctr" bIns="91425" lIns="91425" spcFirstLastPara="1" rIns="91425" wrap="square" tIns="45700">
            <a:noAutofit/>
          </a:bodyPr>
          <a:lstStyle>
            <a:lvl1pPr lvl="0" algn="l">
              <a:lnSpc>
                <a:spcPct val="100000"/>
              </a:lnSpc>
              <a:spcBef>
                <a:spcPts val="0"/>
              </a:spcBef>
              <a:spcAft>
                <a:spcPts val="0"/>
              </a:spcAft>
              <a:buClr>
                <a:schemeClr val="dk2"/>
              </a:buClr>
              <a:buSzPts val="2800"/>
              <a:buFont typeface="Libre Franklin"/>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22"/>
          <p:cNvSpPr txBox="1"/>
          <p:nvPr>
            <p:ph idx="1" type="body"/>
          </p:nvPr>
        </p:nvSpPr>
        <p:spPr>
          <a:xfrm>
            <a:off x="914400" y="4084369"/>
            <a:ext cx="7315200" cy="5143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80"/>
              </a:spcBef>
              <a:spcAft>
                <a:spcPts val="0"/>
              </a:spcAft>
              <a:buSzPts val="1360"/>
              <a:buFont typeface="Libre Baskerville"/>
              <a:buNone/>
              <a:defRPr sz="1600"/>
            </a:lvl1pPr>
            <a:lvl2pPr indent="-293370" lvl="1" marL="914400" algn="l">
              <a:lnSpc>
                <a:spcPct val="100000"/>
              </a:lnSpc>
              <a:spcBef>
                <a:spcPts val="370"/>
              </a:spcBef>
              <a:spcAft>
                <a:spcPts val="0"/>
              </a:spcAft>
              <a:buSzPts val="1020"/>
              <a:buChar char="⚫"/>
              <a:defRPr sz="1200"/>
            </a:lvl2pPr>
            <a:lvl3pPr indent="-282575" lvl="2" marL="1371600" algn="l">
              <a:lnSpc>
                <a:spcPct val="100000"/>
              </a:lnSpc>
              <a:spcBef>
                <a:spcPts val="370"/>
              </a:spcBef>
              <a:spcAft>
                <a:spcPts val="0"/>
              </a:spcAft>
              <a:buSzPts val="850"/>
              <a:buChar char="⚫"/>
              <a:defRPr sz="1000"/>
            </a:lvl3pPr>
            <a:lvl4pPr indent="-274320" lvl="3" marL="1828800" algn="l">
              <a:lnSpc>
                <a:spcPct val="100000"/>
              </a:lnSpc>
              <a:spcBef>
                <a:spcPts val="370"/>
              </a:spcBef>
              <a:spcAft>
                <a:spcPts val="0"/>
              </a:spcAft>
              <a:buSzPts val="720"/>
              <a:buChar char="⚫"/>
              <a:defRPr sz="900"/>
            </a:lvl4pPr>
            <a:lvl5pPr indent="-285750" lvl="4" marL="2286000" algn="l">
              <a:lnSpc>
                <a:spcPct val="100000"/>
              </a:lnSpc>
              <a:spcBef>
                <a:spcPts val="370"/>
              </a:spcBef>
              <a:spcAft>
                <a:spcPts val="0"/>
              </a:spcAft>
              <a:buSzPts val="900"/>
              <a:buFont typeface="Libre Baskerville"/>
              <a:buChar char="o"/>
              <a:defRPr sz="9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123" name="Google Shape;123;p22"/>
          <p:cNvSpPr txBox="1"/>
          <p:nvPr>
            <p:ph idx="10" type="dt"/>
          </p:nvPr>
        </p:nvSpPr>
        <p:spPr>
          <a:xfrm>
            <a:off x="6172200" y="4643438"/>
            <a:ext cx="2476500" cy="35718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22"/>
          <p:cNvSpPr txBox="1"/>
          <p:nvPr>
            <p:ph idx="11" type="ftr"/>
          </p:nvPr>
        </p:nvSpPr>
        <p:spPr>
          <a:xfrm>
            <a:off x="914400" y="4629150"/>
            <a:ext cx="3886200" cy="342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22"/>
          <p:cNvSpPr/>
          <p:nvPr>
            <p:ph idx="12" type="sldNum"/>
          </p:nvPr>
        </p:nvSpPr>
        <p:spPr>
          <a:xfrm>
            <a:off x="146304" y="4656582"/>
            <a:ext cx="457200" cy="3429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
              <a:t>‹#›</a:t>
            </a:fld>
            <a:endParaRPr/>
          </a:p>
        </p:txBody>
      </p:sp>
      <p:sp>
        <p:nvSpPr>
          <p:cNvPr id="126" name="Google Shape;126;p22"/>
          <p:cNvSpPr/>
          <p:nvPr/>
        </p:nvSpPr>
        <p:spPr>
          <a:xfrm flipH="1" rot="10800000">
            <a:off x="68307" y="3512666"/>
            <a:ext cx="9006840" cy="6858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127" name="Google Shape;127;p22"/>
          <p:cNvSpPr/>
          <p:nvPr/>
        </p:nvSpPr>
        <p:spPr>
          <a:xfrm>
            <a:off x="68508" y="3487856"/>
            <a:ext cx="9006639" cy="34289"/>
          </a:xfrm>
          <a:prstGeom prst="rect">
            <a:avLst/>
          </a:prstGeom>
          <a:solidFill>
            <a:srgbClr val="B1C0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128" name="Google Shape;128;p22"/>
          <p:cNvSpPr/>
          <p:nvPr/>
        </p:nvSpPr>
        <p:spPr>
          <a:xfrm>
            <a:off x="68510" y="3579918"/>
            <a:ext cx="9006637" cy="36605"/>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129" name="Google Shape;129;p22"/>
          <p:cNvSpPr/>
          <p:nvPr>
            <p:ph idx="2" type="pic"/>
          </p:nvPr>
        </p:nvSpPr>
        <p:spPr>
          <a:xfrm>
            <a:off x="68308" y="50006"/>
            <a:ext cx="9001873" cy="3436144"/>
          </a:xfrm>
          <a:prstGeom prst="round2SameRect">
            <a:avLst>
              <a:gd fmla="val 7101" name="adj1"/>
              <a:gd fmla="val 0" name="adj2"/>
            </a:avLst>
          </a:prstGeom>
          <a:solidFill>
            <a:schemeClr val="lt2"/>
          </a:solidFill>
          <a:ln cap="flat" cmpd="sng" w="9525">
            <a:solidFill>
              <a:schemeClr val="dk1"/>
            </a:solidFill>
            <a:prstDash val="solid"/>
            <a:round/>
            <a:headEnd len="sm" w="sm" type="none"/>
            <a:tailEnd len="sm" w="sm" type="none"/>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0" name="Shape 130"/>
        <p:cNvGrpSpPr/>
        <p:nvPr/>
      </p:nvGrpSpPr>
      <p:grpSpPr>
        <a:xfrm>
          <a:off x="0" y="0"/>
          <a:ext cx="0" cy="0"/>
          <a:chOff x="0" y="0"/>
          <a:chExt cx="0" cy="0"/>
        </a:xfrm>
      </p:grpSpPr>
      <p:sp>
        <p:nvSpPr>
          <p:cNvPr id="131" name="Google Shape;131;p23"/>
          <p:cNvSpPr txBox="1"/>
          <p:nvPr>
            <p:ph type="title"/>
          </p:nvPr>
        </p:nvSpPr>
        <p:spPr>
          <a:xfrm>
            <a:off x="914400" y="205978"/>
            <a:ext cx="7772400" cy="85725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23"/>
          <p:cNvSpPr txBox="1"/>
          <p:nvPr>
            <p:ph idx="1" type="body"/>
          </p:nvPr>
        </p:nvSpPr>
        <p:spPr>
          <a:xfrm rot="5400000">
            <a:off x="3086100" y="-1085850"/>
            <a:ext cx="3429000" cy="77724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40"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133" name="Google Shape;133;p23"/>
          <p:cNvSpPr txBox="1"/>
          <p:nvPr>
            <p:ph idx="10" type="dt"/>
          </p:nvPr>
        </p:nvSpPr>
        <p:spPr>
          <a:xfrm>
            <a:off x="6172200" y="4643438"/>
            <a:ext cx="2476500" cy="35718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23"/>
          <p:cNvSpPr txBox="1"/>
          <p:nvPr>
            <p:ph idx="11" type="ftr"/>
          </p:nvPr>
        </p:nvSpPr>
        <p:spPr>
          <a:xfrm>
            <a:off x="914400" y="4629150"/>
            <a:ext cx="3962400" cy="342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23"/>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6" name="Shape 136"/>
        <p:cNvGrpSpPr/>
        <p:nvPr/>
      </p:nvGrpSpPr>
      <p:grpSpPr>
        <a:xfrm>
          <a:off x="0" y="0"/>
          <a:ext cx="0" cy="0"/>
          <a:chOff x="0" y="0"/>
          <a:chExt cx="0" cy="0"/>
        </a:xfrm>
      </p:grpSpPr>
      <p:sp>
        <p:nvSpPr>
          <p:cNvPr id="137" name="Google Shape;137;p24"/>
          <p:cNvSpPr txBox="1"/>
          <p:nvPr>
            <p:ph type="title"/>
          </p:nvPr>
        </p:nvSpPr>
        <p:spPr>
          <a:xfrm rot="5400000">
            <a:off x="5440919" y="1394463"/>
            <a:ext cx="4388644" cy="2011680"/>
          </a:xfrm>
          <a:prstGeom prst="rect">
            <a:avLst/>
          </a:prstGeom>
          <a:noFill/>
          <a:ln>
            <a:noFill/>
          </a:ln>
        </p:spPr>
        <p:txBody>
          <a:bodyPr anchorCtr="0" anchor="b" bIns="91425"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24"/>
          <p:cNvSpPr txBox="1"/>
          <p:nvPr>
            <p:ph idx="1" type="body"/>
          </p:nvPr>
        </p:nvSpPr>
        <p:spPr>
          <a:xfrm rot="5400000">
            <a:off x="1501379" y="-380998"/>
            <a:ext cx="4388644" cy="5562600"/>
          </a:xfrm>
          <a:prstGeom prst="rect">
            <a:avLst/>
          </a:prstGeom>
          <a:noFill/>
          <a:ln>
            <a:noFill/>
          </a:ln>
        </p:spPr>
        <p:txBody>
          <a:bodyPr anchorCtr="0" anchor="t" bIns="45700" lIns="91425" spcFirstLastPara="1" rIns="91425" wrap="square" tIns="45700">
            <a:normAutofit/>
          </a:bodyPr>
          <a:lstStyle>
            <a:lvl1pPr indent="-325755" lvl="0" marL="457200" algn="l">
              <a:lnSpc>
                <a:spcPct val="100000"/>
              </a:lnSpc>
              <a:spcBef>
                <a:spcPts val="580"/>
              </a:spcBef>
              <a:spcAft>
                <a:spcPts val="0"/>
              </a:spcAft>
              <a:buSzPts val="1530"/>
              <a:buChar char="⚫"/>
              <a:defRPr/>
            </a:lvl1pPr>
            <a:lvl2pPr indent="-325755" lvl="1" marL="914400" algn="l">
              <a:lnSpc>
                <a:spcPct val="100000"/>
              </a:lnSpc>
              <a:spcBef>
                <a:spcPts val="370"/>
              </a:spcBef>
              <a:spcAft>
                <a:spcPts val="0"/>
              </a:spcAft>
              <a:buSzPts val="1530"/>
              <a:buChar char="⚫"/>
              <a:defRPr/>
            </a:lvl2pPr>
            <a:lvl3pPr indent="-325755" lvl="2" marL="1371600" algn="l">
              <a:lnSpc>
                <a:spcPct val="100000"/>
              </a:lnSpc>
              <a:spcBef>
                <a:spcPts val="370"/>
              </a:spcBef>
              <a:spcAft>
                <a:spcPts val="0"/>
              </a:spcAft>
              <a:buSzPts val="1530"/>
              <a:buChar char="⚫"/>
              <a:defRPr/>
            </a:lvl3pPr>
            <a:lvl4pPr indent="-320040" lvl="3" marL="1828800" algn="l">
              <a:lnSpc>
                <a:spcPct val="100000"/>
              </a:lnSpc>
              <a:spcBef>
                <a:spcPts val="370"/>
              </a:spcBef>
              <a:spcAft>
                <a:spcPts val="0"/>
              </a:spcAft>
              <a:buSzPts val="1440"/>
              <a:buChar char="⚫"/>
              <a:defRPr/>
            </a:lvl4pPr>
            <a:lvl5pPr indent="-342900" lvl="4" marL="2286000" algn="l">
              <a:lnSpc>
                <a:spcPct val="100000"/>
              </a:lnSpc>
              <a:spcBef>
                <a:spcPts val="370"/>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139" name="Google Shape;139;p24"/>
          <p:cNvSpPr txBox="1"/>
          <p:nvPr>
            <p:ph idx="10" type="dt"/>
          </p:nvPr>
        </p:nvSpPr>
        <p:spPr>
          <a:xfrm>
            <a:off x="6172200" y="4643438"/>
            <a:ext cx="2476500" cy="35718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24"/>
          <p:cNvSpPr txBox="1"/>
          <p:nvPr>
            <p:ph idx="11" type="ftr"/>
          </p:nvPr>
        </p:nvSpPr>
        <p:spPr>
          <a:xfrm>
            <a:off x="914400" y="4629150"/>
            <a:ext cx="3962400" cy="342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24"/>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p:nvPr/>
        </p:nvSpPr>
        <p:spPr>
          <a:xfrm>
            <a:off x="0" y="0"/>
            <a:ext cx="9144000" cy="5143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52" name="Google Shape;52;p13"/>
          <p:cNvSpPr/>
          <p:nvPr/>
        </p:nvSpPr>
        <p:spPr>
          <a:xfrm>
            <a:off x="64008" y="52316"/>
            <a:ext cx="9013372" cy="5020056"/>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Libre Baskerville"/>
              <a:ea typeface="Libre Baskerville"/>
              <a:cs typeface="Libre Baskerville"/>
              <a:sym typeface="Libre Baskerville"/>
            </a:endParaRPr>
          </a:p>
        </p:txBody>
      </p:sp>
      <p:sp>
        <p:nvSpPr>
          <p:cNvPr id="53" name="Google Shape;53;p13"/>
          <p:cNvSpPr txBox="1"/>
          <p:nvPr>
            <p:ph type="title"/>
          </p:nvPr>
        </p:nvSpPr>
        <p:spPr>
          <a:xfrm>
            <a:off x="914400" y="205978"/>
            <a:ext cx="7772400" cy="857250"/>
          </a:xfrm>
          <a:prstGeom prst="rect">
            <a:avLst/>
          </a:prstGeom>
          <a:noFill/>
          <a:ln>
            <a:noFill/>
          </a:ln>
        </p:spPr>
        <p:txBody>
          <a:bodyPr anchorCtr="0" anchor="b" bIns="91425" lIns="91425" spcFirstLastPara="1" rIns="91425" wrap="square" tIns="45700">
            <a:normAutofit/>
          </a:bodyPr>
          <a:lstStyle>
            <a:lvl1pPr lvl="0" marR="0" rtl="0" algn="l">
              <a:lnSpc>
                <a:spcPct val="100000"/>
              </a:lnSpc>
              <a:spcBef>
                <a:spcPts val="0"/>
              </a:spcBef>
              <a:spcAft>
                <a:spcPts val="0"/>
              </a:spcAft>
              <a:buClr>
                <a:schemeClr val="dk2"/>
              </a:buClr>
              <a:buSzPts val="4000"/>
              <a:buFont typeface="Libre Franklin"/>
              <a:buNone/>
              <a:defRPr b="0" i="0" sz="4000" u="none" cap="none" strike="noStrike">
                <a:solidFill>
                  <a:schemeClr val="dk2"/>
                </a:solidFill>
                <a:latin typeface="Libre Franklin"/>
                <a:ea typeface="Libre Franklin"/>
                <a:cs typeface="Libre Franklin"/>
                <a:sym typeface="Libre Frankli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4" name="Google Shape;54;p13"/>
          <p:cNvSpPr txBox="1"/>
          <p:nvPr>
            <p:ph idx="1" type="body"/>
          </p:nvPr>
        </p:nvSpPr>
        <p:spPr>
          <a:xfrm>
            <a:off x="914400" y="1085850"/>
            <a:ext cx="7772400" cy="3429000"/>
          </a:xfrm>
          <a:prstGeom prst="rect">
            <a:avLst/>
          </a:prstGeom>
          <a:noFill/>
          <a:ln>
            <a:noFill/>
          </a:ln>
        </p:spPr>
        <p:txBody>
          <a:bodyPr anchorCtr="0" anchor="t" bIns="45700" lIns="91425" spcFirstLastPara="1" rIns="91425" wrap="square" tIns="45700">
            <a:normAutofit/>
          </a:bodyPr>
          <a:lstStyle>
            <a:lvl1pPr indent="-368935" lvl="0" marL="457200" marR="0" rtl="0" algn="l">
              <a:lnSpc>
                <a:spcPct val="100000"/>
              </a:lnSpc>
              <a:spcBef>
                <a:spcPts val="580"/>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lnSpc>
                <a:spcPct val="100000"/>
              </a:lnSpc>
              <a:spcBef>
                <a:spcPts val="370"/>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lnSpc>
                <a:spcPct val="100000"/>
              </a:lnSpc>
              <a:spcBef>
                <a:spcPts val="370"/>
              </a:spcBef>
              <a:spcAft>
                <a:spcPts val="0"/>
              </a:spcAft>
              <a:buClr>
                <a:srgbClr val="B1C0DA"/>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lnSpc>
                <a:spcPct val="100000"/>
              </a:lnSpc>
              <a:spcBef>
                <a:spcPts val="370"/>
              </a:spcBef>
              <a:spcAft>
                <a:spcPts val="0"/>
              </a:spcAft>
              <a:buClr>
                <a:schemeClr val="accent3"/>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lnSpc>
                <a:spcPct val="100000"/>
              </a:lnSpc>
              <a:spcBef>
                <a:spcPts val="370"/>
              </a:spcBef>
              <a:spcAft>
                <a:spcPts val="0"/>
              </a:spcAft>
              <a:buClr>
                <a:schemeClr val="accent3"/>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lnSpc>
                <a:spcPct val="100000"/>
              </a:lnSpc>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lnSpc>
                <a:spcPct val="100000"/>
              </a:lnSpc>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lnSpc>
                <a:spcPct val="100000"/>
              </a:lnSpc>
              <a:spcBef>
                <a:spcPts val="370"/>
              </a:spcBef>
              <a:spcAft>
                <a:spcPts val="0"/>
              </a:spcAft>
              <a:buClr>
                <a:srgbClr val="B1C0DA"/>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lnSpc>
                <a:spcPct val="100000"/>
              </a:lnSpc>
              <a:spcBef>
                <a:spcPts val="370"/>
              </a:spcBef>
              <a:spcAft>
                <a:spcPts val="0"/>
              </a:spcAft>
              <a:buClr>
                <a:srgbClr val="DCB1B0"/>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55" name="Google Shape;55;p13"/>
          <p:cNvSpPr txBox="1"/>
          <p:nvPr>
            <p:ph idx="10" type="dt"/>
          </p:nvPr>
        </p:nvSpPr>
        <p:spPr>
          <a:xfrm>
            <a:off x="6172200" y="4643438"/>
            <a:ext cx="2476500" cy="357188"/>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56" name="Google Shape;56;p13"/>
          <p:cNvSpPr txBox="1"/>
          <p:nvPr>
            <p:ph idx="11" type="ftr"/>
          </p:nvPr>
        </p:nvSpPr>
        <p:spPr>
          <a:xfrm>
            <a:off x="914400" y="4629150"/>
            <a:ext cx="3962400" cy="342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57" name="Google Shape;57;p13"/>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1pPr>
            <a:lvl2pPr indent="0" lvl="1"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2pPr>
            <a:lvl3pPr indent="0" lvl="2"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3pPr>
            <a:lvl4pPr indent="0" lvl="3"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4pPr>
            <a:lvl5pPr indent="0" lvl="4"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5pPr>
            <a:lvl6pPr indent="0" lvl="5"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6pPr>
            <a:lvl7pPr indent="0" lvl="6"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7pPr>
            <a:lvl8pPr indent="0" lvl="7"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8pPr>
            <a:lvl9pPr indent="0" lvl="8" marL="0" marR="0" rtl="0" algn="ctr">
              <a:lnSpc>
                <a:spcPct val="100000"/>
              </a:lnSpc>
              <a:spcBef>
                <a:spcPts val="0"/>
              </a:spcBef>
              <a:spcAft>
                <a:spcPts val="0"/>
              </a:spcAft>
              <a:buClr>
                <a:srgbClr val="000000"/>
              </a:buClr>
              <a:buSzPts val="1400"/>
              <a:buFont typeface="Arial"/>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idx="1" type="subTitle"/>
          </p:nvPr>
        </p:nvSpPr>
        <p:spPr>
          <a:xfrm>
            <a:off x="1447800" y="2400300"/>
            <a:ext cx="6400800" cy="257175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2210"/>
              <a:buNone/>
            </a:pPr>
            <a:r>
              <a:rPr b="1" lang="en"/>
              <a:t>Group Members</a:t>
            </a:r>
            <a:endParaRPr/>
          </a:p>
          <a:p>
            <a:pPr indent="0" lvl="0" marL="0" rtl="0" algn="ctr">
              <a:lnSpc>
                <a:spcPct val="100000"/>
              </a:lnSpc>
              <a:spcBef>
                <a:spcPts val="580"/>
              </a:spcBef>
              <a:spcAft>
                <a:spcPts val="0"/>
              </a:spcAft>
              <a:buSzPts val="2210"/>
              <a:buNone/>
            </a:pPr>
            <a:r>
              <a:t/>
            </a:r>
            <a:endParaRPr i="1"/>
          </a:p>
          <a:p>
            <a:pPr indent="0" lvl="0" marL="0" rtl="0" algn="ctr">
              <a:lnSpc>
                <a:spcPct val="100000"/>
              </a:lnSpc>
              <a:spcBef>
                <a:spcPts val="580"/>
              </a:spcBef>
              <a:spcAft>
                <a:spcPts val="0"/>
              </a:spcAft>
              <a:buSzPts val="2210"/>
              <a:buNone/>
            </a:pPr>
            <a:r>
              <a:rPr i="1" lang="en"/>
              <a:t>.</a:t>
            </a:r>
            <a:endParaRPr/>
          </a:p>
          <a:p>
            <a:pPr indent="0" lvl="0" marL="0" rtl="0" algn="ctr">
              <a:lnSpc>
                <a:spcPct val="100000"/>
              </a:lnSpc>
              <a:spcBef>
                <a:spcPts val="580"/>
              </a:spcBef>
              <a:spcAft>
                <a:spcPts val="0"/>
              </a:spcAft>
              <a:buSzPts val="2210"/>
              <a:buNone/>
            </a:pPr>
            <a:r>
              <a:t/>
            </a:r>
            <a:endParaRPr i="1"/>
          </a:p>
          <a:p>
            <a:pPr indent="0" lvl="0" marL="0" rtl="0" algn="ctr">
              <a:lnSpc>
                <a:spcPct val="100000"/>
              </a:lnSpc>
              <a:spcBef>
                <a:spcPts val="580"/>
              </a:spcBef>
              <a:spcAft>
                <a:spcPts val="0"/>
              </a:spcAft>
              <a:buSzPts val="2210"/>
              <a:buNone/>
            </a:pPr>
            <a:r>
              <a:t/>
            </a:r>
            <a:endParaRPr i="1"/>
          </a:p>
        </p:txBody>
      </p:sp>
      <p:sp>
        <p:nvSpPr>
          <p:cNvPr id="148" name="Google Shape;148;p25"/>
          <p:cNvSpPr txBox="1"/>
          <p:nvPr>
            <p:ph type="ctrTitle"/>
          </p:nvPr>
        </p:nvSpPr>
        <p:spPr>
          <a:xfrm>
            <a:off x="762000" y="1200150"/>
            <a:ext cx="7772400" cy="873919"/>
          </a:xfrm>
          <a:prstGeom prst="rect">
            <a:avLst/>
          </a:prstGeom>
          <a:noFill/>
          <a:ln>
            <a:noFill/>
          </a:ln>
        </p:spPr>
        <p:txBody>
          <a:bodyPr anchorCtr="0" anchor="ctr" bIns="91425" lIns="91425" spcFirstLastPara="1" rIns="91425" wrap="square" tIns="45700">
            <a:normAutofit fontScale="90000"/>
          </a:bodyPr>
          <a:lstStyle/>
          <a:p>
            <a:pPr indent="0" lvl="0" marL="0" rtl="0" algn="ctr">
              <a:lnSpc>
                <a:spcPct val="100000"/>
              </a:lnSpc>
              <a:spcBef>
                <a:spcPts val="0"/>
              </a:spcBef>
              <a:spcAft>
                <a:spcPts val="0"/>
              </a:spcAft>
              <a:buClr>
                <a:srgbClr val="FFFFFF"/>
              </a:buClr>
              <a:buSzPct val="100000"/>
              <a:buFont typeface="Times New Roman"/>
              <a:buNone/>
            </a:pPr>
            <a:r>
              <a:rPr lang="en">
                <a:latin typeface="Times New Roman"/>
                <a:ea typeface="Times New Roman"/>
                <a:cs typeface="Times New Roman"/>
                <a:sym typeface="Times New Roman"/>
              </a:rPr>
              <a:t>LogSentinel — AI-Driven Log Anomaly Detector</a:t>
            </a:r>
            <a:endParaRPr/>
          </a:p>
        </p:txBody>
      </p:sp>
      <p:pic>
        <p:nvPicPr>
          <p:cNvPr id="149" name="Google Shape;149;p25"/>
          <p:cNvPicPr preferRelativeResize="0"/>
          <p:nvPr/>
        </p:nvPicPr>
        <p:blipFill rotWithShape="1">
          <a:blip r:embed="rId3">
            <a:alphaModFix/>
          </a:blip>
          <a:srcRect b="0" l="0" r="0" t="0"/>
          <a:stretch/>
        </p:blipFill>
        <p:spPr>
          <a:xfrm>
            <a:off x="304800" y="171450"/>
            <a:ext cx="1201695" cy="846189"/>
          </a:xfrm>
          <a:prstGeom prst="rect">
            <a:avLst/>
          </a:prstGeom>
          <a:noFill/>
          <a:ln>
            <a:noFill/>
          </a:ln>
        </p:spPr>
      </p:pic>
      <p:graphicFrame>
        <p:nvGraphicFramePr>
          <p:cNvPr id="150" name="Google Shape;150;p25"/>
          <p:cNvGraphicFramePr/>
          <p:nvPr/>
        </p:nvGraphicFramePr>
        <p:xfrm>
          <a:off x="1981200" y="2878749"/>
          <a:ext cx="3000000" cy="3000000"/>
        </p:xfrm>
        <a:graphic>
          <a:graphicData uri="http://schemas.openxmlformats.org/drawingml/2006/table">
            <a:tbl>
              <a:tblPr bandRow="1" firstRow="1">
                <a:noFill/>
                <a:tableStyleId>{1247157A-9FCA-48C5-9BA8-BDD36C3B0EB2}</a:tableStyleId>
              </a:tblPr>
              <a:tblGrid>
                <a:gridCol w="3994150"/>
                <a:gridCol w="1187450"/>
              </a:tblGrid>
              <a:tr h="2507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Name</a:t>
                      </a:r>
                      <a:endParaRPr sz="1100" u="none" cap="none" strike="noStrike"/>
                    </a:p>
                  </a:txBody>
                  <a:tcPr marT="34300" marB="34300"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t>  Roll No.</a:t>
                      </a:r>
                      <a:endParaRPr sz="1100" u="none" cap="none" strike="noStrike"/>
                    </a:p>
                  </a:txBody>
                  <a:tcPr marT="34300" marB="34300" marR="91450" marL="91450"/>
                </a:tc>
              </a:tr>
              <a:tr h="235900">
                <a:tc>
                  <a:txBody>
                    <a:bodyPr/>
                    <a:lstStyle/>
                    <a:p>
                      <a:pPr indent="0" lvl="0" marL="0" marR="0" rtl="0" algn="ctr">
                        <a:lnSpc>
                          <a:spcPct val="100000"/>
                        </a:lnSpc>
                        <a:spcBef>
                          <a:spcPts val="0"/>
                        </a:spcBef>
                        <a:spcAft>
                          <a:spcPts val="0"/>
                        </a:spcAft>
                        <a:buClr>
                          <a:srgbClr val="000000"/>
                        </a:buClr>
                        <a:buSzPts val="1400"/>
                        <a:buFont typeface="Arial"/>
                        <a:buNone/>
                      </a:pPr>
                      <a:r>
                        <a:rPr lang="en"/>
                        <a:t>Dnyanesh Chaudhari</a:t>
                      </a:r>
                      <a:endParaRPr sz="1400" u="none" cap="none" strike="noStrike"/>
                    </a:p>
                  </a:txBody>
                  <a:tcPr marT="34300" marB="34300"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0</a:t>
                      </a:r>
                      <a:r>
                        <a:rPr lang="en"/>
                        <a:t>9</a:t>
                      </a:r>
                      <a:endParaRPr sz="1400" u="none" cap="none" strike="noStrike"/>
                    </a:p>
                  </a:txBody>
                  <a:tcPr marT="34300" marB="34300" marR="91450" marL="91450"/>
                </a:tc>
              </a:tr>
              <a:tr h="290025">
                <a:tc>
                  <a:txBody>
                    <a:bodyPr/>
                    <a:lstStyle/>
                    <a:p>
                      <a:pPr indent="0" lvl="0" marL="0" marR="0" rtl="0" algn="ctr">
                        <a:lnSpc>
                          <a:spcPct val="100000"/>
                        </a:lnSpc>
                        <a:spcBef>
                          <a:spcPts val="0"/>
                        </a:spcBef>
                        <a:spcAft>
                          <a:spcPts val="0"/>
                        </a:spcAft>
                        <a:buClr>
                          <a:srgbClr val="000000"/>
                        </a:buClr>
                        <a:buSzPts val="1400"/>
                        <a:buFont typeface="Arial"/>
                        <a:buNone/>
                      </a:pPr>
                      <a:r>
                        <a:rPr lang="en"/>
                        <a:t>Arjun Chavan</a:t>
                      </a:r>
                      <a:endParaRPr sz="1400" u="none" cap="none" strike="noStrike"/>
                    </a:p>
                  </a:txBody>
                  <a:tcPr marT="34300" marB="34300"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
                        <a:t>10</a:t>
                      </a:r>
                      <a:endParaRPr sz="1400" u="none" cap="none" strike="noStrike"/>
                    </a:p>
                  </a:txBody>
                  <a:tcPr marT="34300" marB="34300" marR="91450" marL="91450"/>
                </a:tc>
              </a:tr>
              <a:tr h="278425">
                <a:tc>
                  <a:txBody>
                    <a:bodyPr/>
                    <a:lstStyle/>
                    <a:p>
                      <a:pPr indent="0" lvl="0" marL="0" marR="0" rtl="0" algn="ctr">
                        <a:lnSpc>
                          <a:spcPct val="100000"/>
                        </a:lnSpc>
                        <a:spcBef>
                          <a:spcPts val="0"/>
                        </a:spcBef>
                        <a:spcAft>
                          <a:spcPts val="0"/>
                        </a:spcAft>
                        <a:buClr>
                          <a:srgbClr val="000000"/>
                        </a:buClr>
                        <a:buSzPts val="1400"/>
                        <a:buFont typeface="Arial"/>
                        <a:buNone/>
                      </a:pPr>
                      <a:r>
                        <a:rPr lang="en"/>
                        <a:t>Aaron Dmonte</a:t>
                      </a:r>
                      <a:endParaRPr sz="1400" u="none" cap="none" strike="noStrike"/>
                    </a:p>
                  </a:txBody>
                  <a:tcPr marT="34300" marB="34300"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
                        <a:t>51</a:t>
                      </a:r>
                      <a:endParaRPr sz="1400" u="none" cap="none" strike="noStrike"/>
                    </a:p>
                  </a:txBody>
                  <a:tcPr marT="34300" marB="34300" marR="91450" marL="91450"/>
                </a:tc>
              </a:tr>
            </a:tbl>
          </a:graphicData>
        </a:graphic>
      </p:graphicFrame>
      <p:sp>
        <p:nvSpPr>
          <p:cNvPr id="151" name="Google Shape;151;p25"/>
          <p:cNvSpPr txBox="1"/>
          <p:nvPr/>
        </p:nvSpPr>
        <p:spPr>
          <a:xfrm>
            <a:off x="1248775" y="150725"/>
            <a:ext cx="7608300" cy="1416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 sz="2900" u="none" cap="none" strike="noStrike">
                <a:solidFill>
                  <a:schemeClr val="dk1"/>
                </a:solidFill>
                <a:latin typeface="Libre Baskerville"/>
                <a:ea typeface="Libre Baskerville"/>
                <a:cs typeface="Libre Baskerville"/>
                <a:sym typeface="Libre Baskerville"/>
              </a:rPr>
              <a:t>St. Francis Institute of Technology</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rPr b="0" i="1" lang="en" sz="2500" u="none" cap="none" strike="noStrike">
                <a:solidFill>
                  <a:schemeClr val="dk1"/>
                </a:solidFill>
                <a:latin typeface="Libre Baskerville"/>
                <a:ea typeface="Libre Baskerville"/>
                <a:cs typeface="Libre Baskerville"/>
                <a:sym typeface="Libre Baskerville"/>
              </a:rPr>
              <a:t>Department of Computer Engineering</a:t>
            </a:r>
            <a:r>
              <a:rPr b="0" i="0" lang="en" sz="2500" u="none" cap="none" strike="noStrike">
                <a:solidFill>
                  <a:schemeClr val="dk1"/>
                </a:solidFill>
                <a:latin typeface="Libre Baskerville"/>
                <a:ea typeface="Libre Baskerville"/>
                <a:cs typeface="Libre Baskerville"/>
                <a:sym typeface="Libre Baskerville"/>
              </a:rPr>
              <a:t> </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Libre Baskerville"/>
              <a:ea typeface="Libre Baskerville"/>
              <a:cs typeface="Libre Baskerville"/>
              <a:sym typeface="Libre Baskerville"/>
            </a:endParaRPr>
          </a:p>
        </p:txBody>
      </p:sp>
      <p:sp>
        <p:nvSpPr>
          <p:cNvPr id="152" name="Google Shape;152;p25"/>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r>
              <a:rPr lang="en"/>
              <a:t>1</a:t>
            </a:r>
            <a:endParaRPr/>
          </a:p>
        </p:txBody>
      </p:sp>
      <p:sp>
        <p:nvSpPr>
          <p:cNvPr id="153" name="Google Shape;153;p25"/>
          <p:cNvSpPr txBox="1"/>
          <p:nvPr>
            <p:ph idx="10" type="dt"/>
          </p:nvPr>
        </p:nvSpPr>
        <p:spPr>
          <a:xfrm>
            <a:off x="6172200" y="4643438"/>
            <a:ext cx="2476500" cy="3571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
              <a:t>08/07/2026</a:t>
            </a:r>
            <a:endParaRPr/>
          </a:p>
        </p:txBody>
      </p:sp>
      <p:sp>
        <p:nvSpPr>
          <p:cNvPr id="154" name="Google Shape;154;p25"/>
          <p:cNvSpPr txBox="1"/>
          <p:nvPr>
            <p:ph idx="11" type="ftr"/>
          </p:nvPr>
        </p:nvSpPr>
        <p:spPr>
          <a:xfrm>
            <a:off x="914400" y="4629150"/>
            <a:ext cx="4791300" cy="342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
                <a:solidFill>
                  <a:srgbClr val="1F497D"/>
                </a:solidFill>
              </a:rPr>
              <a:t>LogSentinel — AI-Driven Log Anomaly Detector</a:t>
            </a:r>
            <a:r>
              <a:rPr lang="en">
                <a:solidFill>
                  <a:srgbClr val="1F497D"/>
                </a:solidFill>
              </a:rPr>
              <a:t> </a:t>
            </a:r>
            <a:endParaRPr>
              <a:solidFill>
                <a:srgbClr val="1F497D"/>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704425" y="205975"/>
            <a:ext cx="7982400" cy="594000"/>
          </a:xfrm>
          <a:prstGeom prst="rect">
            <a:avLst/>
          </a:prstGeom>
          <a:noFill/>
          <a:ln>
            <a:noFill/>
          </a:ln>
        </p:spPr>
        <p:txBody>
          <a:bodyPr anchorCtr="0" anchor="b" bIns="91425" lIns="91425" spcFirstLastPara="1" rIns="91425" wrap="square" tIns="45700">
            <a:normAutofit fontScale="90000"/>
          </a:bodyPr>
          <a:lstStyle/>
          <a:p>
            <a:pPr indent="0" lvl="0" marL="0" rtl="0" algn="ctr">
              <a:spcBef>
                <a:spcPts val="0"/>
              </a:spcBef>
              <a:spcAft>
                <a:spcPts val="0"/>
              </a:spcAft>
              <a:buClr>
                <a:schemeClr val="dk2"/>
              </a:buClr>
              <a:buSzPct val="111111"/>
              <a:buFont typeface="Libre Franklin"/>
              <a:buNone/>
            </a:pPr>
            <a:r>
              <a:rPr lang="en">
                <a:latin typeface="Times New Roman"/>
                <a:ea typeface="Times New Roman"/>
                <a:cs typeface="Times New Roman"/>
                <a:sym typeface="Times New Roman"/>
              </a:rPr>
              <a:t>Content</a:t>
            </a:r>
            <a:endParaRPr/>
          </a:p>
        </p:txBody>
      </p:sp>
      <p:sp>
        <p:nvSpPr>
          <p:cNvPr id="161" name="Google Shape;161;p26"/>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r>
              <a:rPr lang="en"/>
              <a:t>2</a:t>
            </a:r>
            <a:endParaRPr/>
          </a:p>
        </p:txBody>
      </p:sp>
      <p:sp>
        <p:nvSpPr>
          <p:cNvPr id="162" name="Google Shape;162;p26"/>
          <p:cNvSpPr txBox="1"/>
          <p:nvPr>
            <p:ph idx="1" type="body"/>
          </p:nvPr>
        </p:nvSpPr>
        <p:spPr>
          <a:xfrm>
            <a:off x="685800" y="742950"/>
            <a:ext cx="7772400" cy="3757500"/>
          </a:xfrm>
          <a:prstGeom prst="rect">
            <a:avLst/>
          </a:prstGeom>
          <a:noFill/>
          <a:ln>
            <a:noFill/>
          </a:ln>
        </p:spPr>
        <p:txBody>
          <a:bodyPr anchorCtr="0" anchor="t" bIns="45700" lIns="91425" spcFirstLastPara="1" rIns="91425" wrap="square" tIns="45700">
            <a:noAutofit/>
          </a:bodyPr>
          <a:lstStyle/>
          <a:p>
            <a:pPr indent="-197485" lvl="0" marL="274320" rtl="0" algn="l">
              <a:lnSpc>
                <a:spcPct val="100000"/>
              </a:lnSpc>
              <a:spcBef>
                <a:spcPts val="0"/>
              </a:spcBef>
              <a:spcAft>
                <a:spcPts val="0"/>
              </a:spcAft>
              <a:buSzPts val="1000"/>
              <a:buFont typeface="Times New Roman"/>
              <a:buChar char="⚫"/>
            </a:pPr>
            <a:r>
              <a:rPr lang="en" sz="2000">
                <a:latin typeface="Times New Roman"/>
                <a:ea typeface="Times New Roman"/>
                <a:cs typeface="Times New Roman"/>
                <a:sym typeface="Times New Roman"/>
              </a:rPr>
              <a:t>Introduction </a:t>
            </a:r>
            <a:endParaRPr sz="2000">
              <a:latin typeface="Times New Roman"/>
              <a:ea typeface="Times New Roman"/>
              <a:cs typeface="Times New Roman"/>
              <a:sym typeface="Times New Roman"/>
            </a:endParaRPr>
          </a:p>
          <a:p>
            <a:pPr indent="-133985" lvl="0" marL="274320" rtl="0" algn="l">
              <a:lnSpc>
                <a:spcPct val="100000"/>
              </a:lnSpc>
              <a:spcBef>
                <a:spcPts val="0"/>
              </a:spcBef>
              <a:spcAft>
                <a:spcPts val="0"/>
              </a:spcAft>
              <a:buSzPts val="2210"/>
              <a:buNone/>
            </a:pPr>
            <a:r>
              <a:t/>
            </a:r>
            <a:endParaRPr sz="2000">
              <a:latin typeface="Times New Roman"/>
              <a:ea typeface="Times New Roman"/>
              <a:cs typeface="Times New Roman"/>
              <a:sym typeface="Times New Roman"/>
            </a:endParaRPr>
          </a:p>
          <a:p>
            <a:pPr indent="-197485" lvl="0" marL="274320" rtl="0" algn="l">
              <a:lnSpc>
                <a:spcPct val="100000"/>
              </a:lnSpc>
              <a:spcBef>
                <a:spcPts val="0"/>
              </a:spcBef>
              <a:spcAft>
                <a:spcPts val="0"/>
              </a:spcAft>
              <a:buSzPts val="1000"/>
              <a:buFont typeface="Times New Roman"/>
              <a:buChar char="⚫"/>
            </a:pPr>
            <a:r>
              <a:rPr lang="en" sz="2000">
                <a:latin typeface="Times New Roman"/>
                <a:ea typeface="Times New Roman"/>
                <a:cs typeface="Times New Roman"/>
                <a:sym typeface="Times New Roman"/>
              </a:rPr>
              <a:t>Literature Review </a:t>
            </a:r>
            <a:endParaRPr sz="2000">
              <a:latin typeface="Times New Roman"/>
              <a:ea typeface="Times New Roman"/>
              <a:cs typeface="Times New Roman"/>
              <a:sym typeface="Times New Roman"/>
            </a:endParaRPr>
          </a:p>
          <a:p>
            <a:pPr indent="-133985" lvl="0" marL="274320" rtl="0" algn="l">
              <a:lnSpc>
                <a:spcPct val="100000"/>
              </a:lnSpc>
              <a:spcBef>
                <a:spcPts val="0"/>
              </a:spcBef>
              <a:spcAft>
                <a:spcPts val="0"/>
              </a:spcAft>
              <a:buSzPts val="2210"/>
              <a:buNone/>
            </a:pPr>
            <a:r>
              <a:t/>
            </a:r>
            <a:endParaRPr sz="2000">
              <a:latin typeface="Times New Roman"/>
              <a:ea typeface="Times New Roman"/>
              <a:cs typeface="Times New Roman"/>
              <a:sym typeface="Times New Roman"/>
            </a:endParaRPr>
          </a:p>
          <a:p>
            <a:pPr indent="-197485" lvl="0" marL="274320" rtl="0" algn="l">
              <a:lnSpc>
                <a:spcPct val="100000"/>
              </a:lnSpc>
              <a:spcBef>
                <a:spcPts val="0"/>
              </a:spcBef>
              <a:spcAft>
                <a:spcPts val="0"/>
              </a:spcAft>
              <a:buSzPts val="1000"/>
              <a:buFont typeface="Times New Roman"/>
              <a:buChar char="⚫"/>
            </a:pPr>
            <a:r>
              <a:rPr lang="en" sz="2000">
                <a:latin typeface="Times New Roman"/>
                <a:ea typeface="Times New Roman"/>
                <a:cs typeface="Times New Roman"/>
                <a:sym typeface="Times New Roman"/>
              </a:rPr>
              <a:t>Problem definition  </a:t>
            </a:r>
            <a:endParaRPr sz="2000">
              <a:latin typeface="Times New Roman"/>
              <a:ea typeface="Times New Roman"/>
              <a:cs typeface="Times New Roman"/>
              <a:sym typeface="Times New Roman"/>
            </a:endParaRPr>
          </a:p>
          <a:p>
            <a:pPr indent="-133985" lvl="0" marL="274320" rtl="0" algn="l">
              <a:lnSpc>
                <a:spcPct val="100000"/>
              </a:lnSpc>
              <a:spcBef>
                <a:spcPts val="0"/>
              </a:spcBef>
              <a:spcAft>
                <a:spcPts val="0"/>
              </a:spcAft>
              <a:buSzPts val="2210"/>
              <a:buNone/>
            </a:pPr>
            <a:r>
              <a:t/>
            </a:r>
            <a:endParaRPr sz="2000">
              <a:latin typeface="Times New Roman"/>
              <a:ea typeface="Times New Roman"/>
              <a:cs typeface="Times New Roman"/>
              <a:sym typeface="Times New Roman"/>
            </a:endParaRPr>
          </a:p>
          <a:p>
            <a:pPr indent="-197485" lvl="0" marL="274320" rtl="0" algn="l">
              <a:lnSpc>
                <a:spcPct val="100000"/>
              </a:lnSpc>
              <a:spcBef>
                <a:spcPts val="0"/>
              </a:spcBef>
              <a:spcAft>
                <a:spcPts val="0"/>
              </a:spcAft>
              <a:buSzPts val="1000"/>
              <a:buFont typeface="Times New Roman"/>
              <a:buChar char="⚫"/>
            </a:pPr>
            <a:r>
              <a:rPr lang="en" sz="2000">
                <a:latin typeface="Times New Roman"/>
                <a:ea typeface="Times New Roman"/>
                <a:cs typeface="Times New Roman"/>
                <a:sym typeface="Times New Roman"/>
              </a:rPr>
              <a:t>Proposed Solution </a:t>
            </a:r>
            <a:endParaRPr sz="2000">
              <a:latin typeface="Times New Roman"/>
              <a:ea typeface="Times New Roman"/>
              <a:cs typeface="Times New Roman"/>
              <a:sym typeface="Times New Roman"/>
            </a:endParaRPr>
          </a:p>
          <a:p>
            <a:pPr indent="-133985" lvl="0" marL="274320" rtl="0" algn="l">
              <a:lnSpc>
                <a:spcPct val="100000"/>
              </a:lnSpc>
              <a:spcBef>
                <a:spcPts val="0"/>
              </a:spcBef>
              <a:spcAft>
                <a:spcPts val="0"/>
              </a:spcAft>
              <a:buSzPts val="2210"/>
              <a:buNone/>
            </a:pPr>
            <a:r>
              <a:t/>
            </a:r>
            <a:endParaRPr sz="2000">
              <a:latin typeface="Times New Roman"/>
              <a:ea typeface="Times New Roman"/>
              <a:cs typeface="Times New Roman"/>
              <a:sym typeface="Times New Roman"/>
            </a:endParaRPr>
          </a:p>
          <a:p>
            <a:pPr indent="-197485" lvl="0" marL="274320" rtl="0" algn="l">
              <a:lnSpc>
                <a:spcPct val="100000"/>
              </a:lnSpc>
              <a:spcBef>
                <a:spcPts val="0"/>
              </a:spcBef>
              <a:spcAft>
                <a:spcPts val="0"/>
              </a:spcAft>
              <a:buSzPts val="1000"/>
              <a:buFont typeface="Times New Roman"/>
              <a:buChar char="⚫"/>
            </a:pPr>
            <a:r>
              <a:rPr lang="en" sz="2000">
                <a:latin typeface="Times New Roman"/>
                <a:ea typeface="Times New Roman"/>
                <a:cs typeface="Times New Roman"/>
                <a:sym typeface="Times New Roman"/>
              </a:rPr>
              <a:t>Conclusion</a:t>
            </a:r>
            <a:endParaRPr sz="20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latin typeface="Times New Roman"/>
              <a:ea typeface="Times New Roman"/>
              <a:cs typeface="Times New Roman"/>
              <a:sym typeface="Times New Roman"/>
            </a:endParaRPr>
          </a:p>
          <a:p>
            <a:pPr indent="-197485" lvl="0" marL="274320" rtl="0" algn="l">
              <a:lnSpc>
                <a:spcPct val="100000"/>
              </a:lnSpc>
              <a:spcBef>
                <a:spcPts val="580"/>
              </a:spcBef>
              <a:spcAft>
                <a:spcPts val="0"/>
              </a:spcAft>
              <a:buSzPts val="1000"/>
              <a:buFont typeface="Times New Roman"/>
              <a:buChar char="⚫"/>
            </a:pPr>
            <a:r>
              <a:rPr lang="en" sz="2000">
                <a:latin typeface="Times New Roman"/>
                <a:ea typeface="Times New Roman"/>
                <a:cs typeface="Times New Roman"/>
                <a:sym typeface="Times New Roman"/>
              </a:rPr>
              <a:t>References</a:t>
            </a:r>
            <a:endParaRPr sz="2000">
              <a:latin typeface="Times New Roman"/>
              <a:ea typeface="Times New Roman"/>
              <a:cs typeface="Times New Roman"/>
              <a:sym typeface="Times New Roman"/>
            </a:endParaRPr>
          </a:p>
        </p:txBody>
      </p:sp>
      <p:pic>
        <p:nvPicPr>
          <p:cNvPr id="163" name="Google Shape;163;p26"/>
          <p:cNvPicPr preferRelativeResize="0"/>
          <p:nvPr/>
        </p:nvPicPr>
        <p:blipFill rotWithShape="1">
          <a:blip r:embed="rId3">
            <a:alphaModFix/>
          </a:blip>
          <a:srcRect b="0" l="0" r="0" t="0"/>
          <a:stretch/>
        </p:blipFill>
        <p:spPr>
          <a:xfrm>
            <a:off x="8305800" y="4629150"/>
            <a:ext cx="400050" cy="393211"/>
          </a:xfrm>
          <a:prstGeom prst="rect">
            <a:avLst/>
          </a:prstGeom>
          <a:noFill/>
          <a:ln>
            <a:noFill/>
          </a:ln>
        </p:spPr>
      </p:pic>
      <p:sp>
        <p:nvSpPr>
          <p:cNvPr id="164" name="Google Shape;164;p26"/>
          <p:cNvSpPr txBox="1"/>
          <p:nvPr>
            <p:ph idx="10" type="dt"/>
          </p:nvPr>
        </p:nvSpPr>
        <p:spPr>
          <a:xfrm>
            <a:off x="6172200" y="4643438"/>
            <a:ext cx="1905000" cy="3571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
                <a:solidFill>
                  <a:srgbClr val="1F497D"/>
                </a:solidFill>
                <a:latin typeface="Times New Roman"/>
                <a:ea typeface="Times New Roman"/>
                <a:cs typeface="Times New Roman"/>
                <a:sym typeface="Times New Roman"/>
              </a:rPr>
              <a:t>08/07/2026</a:t>
            </a:r>
            <a:endParaRPr>
              <a:solidFill>
                <a:srgbClr val="1F497D"/>
              </a:solidFill>
              <a:latin typeface="Times New Roman"/>
              <a:ea typeface="Times New Roman"/>
              <a:cs typeface="Times New Roman"/>
              <a:sym typeface="Times New Roman"/>
            </a:endParaRPr>
          </a:p>
        </p:txBody>
      </p:sp>
      <p:sp>
        <p:nvSpPr>
          <p:cNvPr id="165" name="Google Shape;165;p26"/>
          <p:cNvSpPr txBox="1"/>
          <p:nvPr>
            <p:ph idx="11" type="ftr"/>
          </p:nvPr>
        </p:nvSpPr>
        <p:spPr>
          <a:xfrm>
            <a:off x="914400" y="4629150"/>
            <a:ext cx="4817400" cy="342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400"/>
              <a:buNone/>
            </a:pPr>
            <a:r>
              <a:t/>
            </a:r>
            <a:endParaRPr/>
          </a:p>
          <a:p>
            <a:pPr indent="0" lvl="0" marL="0" rtl="0" algn="l">
              <a:spcBef>
                <a:spcPts val="0"/>
              </a:spcBef>
              <a:spcAft>
                <a:spcPts val="0"/>
              </a:spcAft>
              <a:buClr>
                <a:schemeClr val="dk1"/>
              </a:buClr>
              <a:buSzPts val="1400"/>
              <a:buFont typeface="Arial"/>
              <a:buNone/>
            </a:pPr>
            <a:r>
              <a:rPr lang="en"/>
              <a:t>LogSentinel — AI-Driven Log Anomaly Detector </a:t>
            </a:r>
            <a:endParaRPr/>
          </a:p>
          <a:p>
            <a:pPr indent="0" lvl="0" marL="0" rtl="0" algn="l">
              <a:lnSpc>
                <a:spcPct val="100000"/>
              </a:lnSpc>
              <a:spcBef>
                <a:spcPts val="0"/>
              </a:spcBef>
              <a:spcAft>
                <a:spcPts val="0"/>
              </a:spcAft>
              <a:buSzPts val="1400"/>
              <a:buNone/>
            </a:pPr>
            <a:r>
              <a:t/>
            </a:r>
            <a:endParaRPr>
              <a:solidFill>
                <a:srgbClr val="1F497D"/>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idx="11" type="ftr"/>
          </p:nvPr>
        </p:nvSpPr>
        <p:spPr>
          <a:xfrm>
            <a:off x="914400" y="4629150"/>
            <a:ext cx="5370900" cy="342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400"/>
              <a:buNone/>
            </a:pPr>
            <a:r>
              <a:t/>
            </a:r>
            <a:endParaRPr/>
          </a:p>
          <a:p>
            <a:pPr indent="0" lvl="0" marL="0" rtl="0" algn="l">
              <a:spcBef>
                <a:spcPts val="0"/>
              </a:spcBef>
              <a:spcAft>
                <a:spcPts val="0"/>
              </a:spcAft>
              <a:buClr>
                <a:schemeClr val="dk1"/>
              </a:buClr>
              <a:buSzPts val="1400"/>
              <a:buFont typeface="Arial"/>
              <a:buNone/>
            </a:pPr>
            <a:r>
              <a:rPr lang="en"/>
              <a:t>LogSentinel — AI-Driven Log Anomaly Detector </a:t>
            </a:r>
            <a:endParaRPr/>
          </a:p>
          <a:p>
            <a:pPr indent="0" lvl="0" marL="0" rtl="0" algn="l">
              <a:lnSpc>
                <a:spcPct val="100000"/>
              </a:lnSpc>
              <a:spcBef>
                <a:spcPts val="0"/>
              </a:spcBef>
              <a:spcAft>
                <a:spcPts val="0"/>
              </a:spcAft>
              <a:buSzPts val="1400"/>
              <a:buNone/>
            </a:pPr>
            <a:r>
              <a:t/>
            </a:r>
            <a:endParaRPr>
              <a:solidFill>
                <a:srgbClr val="1F497D"/>
              </a:solidFill>
            </a:endParaRPr>
          </a:p>
        </p:txBody>
      </p:sp>
      <p:sp>
        <p:nvSpPr>
          <p:cNvPr id="172" name="Google Shape;172;p27"/>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r>
              <a:rPr lang="en"/>
              <a:t>3</a:t>
            </a:r>
            <a:endParaRPr/>
          </a:p>
        </p:txBody>
      </p:sp>
      <p:sp>
        <p:nvSpPr>
          <p:cNvPr id="173" name="Google Shape;173;p27"/>
          <p:cNvSpPr/>
          <p:nvPr/>
        </p:nvSpPr>
        <p:spPr>
          <a:xfrm>
            <a:off x="603500" y="1215150"/>
            <a:ext cx="7854600" cy="3144600"/>
          </a:xfrm>
          <a:prstGeom prst="rect">
            <a:avLst/>
          </a:prstGeom>
          <a:noFill/>
          <a:ln>
            <a:noFill/>
          </a:ln>
        </p:spPr>
        <p:txBody>
          <a:bodyPr anchorCtr="0" anchor="ctr" bIns="0" lIns="0" spcFirstLastPara="1" rIns="0" wrap="square" tIns="0">
            <a:noAutofit/>
          </a:bodyPr>
          <a:lstStyle/>
          <a:p>
            <a:pPr indent="-304800" lvl="0" marL="457200" rtl="0" algn="just">
              <a:spcBef>
                <a:spcPts val="0"/>
              </a:spcBef>
              <a:spcAft>
                <a:spcPts val="0"/>
              </a:spcAft>
              <a:buClr>
                <a:srgbClr val="1F1F1F"/>
              </a:buClr>
              <a:buSzPts val="1200"/>
              <a:buFont typeface="Times New Roman"/>
              <a:buChar char="●"/>
            </a:pPr>
            <a:r>
              <a:rPr lang="en" sz="1200">
                <a:solidFill>
                  <a:schemeClr val="dk1"/>
                </a:solidFill>
                <a:latin typeface="Times New Roman"/>
                <a:ea typeface="Times New Roman"/>
                <a:cs typeface="Times New Roman"/>
                <a:sym typeface="Times New Roman"/>
              </a:rPr>
              <a:t>LogSentinel is an AI-powered log analysis platform that automatically detects anomalies in system behavior by learning what "normal" looks like — without requiring any manually configured rules or static thresholds.</a:t>
            </a:r>
            <a:endParaRPr sz="12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304800" lvl="0" marL="457200" rtl="0" algn="just">
              <a:spcBef>
                <a:spcPts val="0"/>
              </a:spcBef>
              <a:spcAft>
                <a:spcPts val="0"/>
              </a:spcAft>
              <a:buClr>
                <a:srgbClr val="1F1F1F"/>
              </a:buClr>
              <a:buSzPts val="1200"/>
              <a:buFont typeface="Times New Roman"/>
              <a:buChar char="●"/>
            </a:pPr>
            <a:r>
              <a:rPr lang="en" sz="1200">
                <a:solidFill>
                  <a:schemeClr val="dk1"/>
                </a:solidFill>
                <a:latin typeface="Times New Roman"/>
                <a:ea typeface="Times New Roman"/>
                <a:cs typeface="Times New Roman"/>
                <a:sym typeface="Times New Roman"/>
              </a:rPr>
              <a:t>The system collects logs from any application via a lightweight Python agent. Raw, unstructured log lines are parsed by Drain3, converting them into clean structured templates (e.g., </a:t>
            </a:r>
            <a:r>
              <a:rPr lang="en" sz="1200">
                <a:solidFill>
                  <a:srgbClr val="188038"/>
                </a:solidFill>
                <a:latin typeface="Times New Roman"/>
                <a:ea typeface="Times New Roman"/>
                <a:cs typeface="Times New Roman"/>
                <a:sym typeface="Times New Roman"/>
              </a:rPr>
              <a:t>"User 12345 logged in"</a:t>
            </a:r>
            <a:r>
              <a:rPr lang="en" sz="1200">
                <a:solidFill>
                  <a:schemeClr val="dk1"/>
                </a:solidFill>
                <a:latin typeface="Times New Roman"/>
                <a:ea typeface="Times New Roman"/>
                <a:cs typeface="Times New Roman"/>
                <a:sym typeface="Times New Roman"/>
              </a:rPr>
              <a:t> → </a:t>
            </a:r>
            <a:r>
              <a:rPr lang="en" sz="1200">
                <a:solidFill>
                  <a:srgbClr val="188038"/>
                </a:solidFill>
                <a:latin typeface="Times New Roman"/>
                <a:ea typeface="Times New Roman"/>
                <a:cs typeface="Times New Roman"/>
                <a:sym typeface="Times New Roman"/>
              </a:rPr>
              <a:t>"User &lt;ID&gt; logged in"</a:t>
            </a:r>
            <a:r>
              <a:rPr lang="en" sz="1200">
                <a:solidFill>
                  <a:schemeClr val="dk1"/>
                </a:solidFill>
                <a:latin typeface="Times New Roman"/>
                <a:ea typeface="Times New Roman"/>
                <a:cs typeface="Times New Roman"/>
                <a:sym typeface="Times New Roman"/>
              </a:rPr>
              <a:t>).</a:t>
            </a:r>
            <a:endParaRPr sz="12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304800" lvl="0" marL="457200" rtl="0" algn="just">
              <a:spcBef>
                <a:spcPts val="0"/>
              </a:spcBef>
              <a:spcAft>
                <a:spcPts val="0"/>
              </a:spcAft>
              <a:buClr>
                <a:srgbClr val="1F1F1F"/>
              </a:buClr>
              <a:buSzPts val="1200"/>
              <a:buFont typeface="Times New Roman"/>
              <a:buChar char="●"/>
            </a:pPr>
            <a:r>
              <a:rPr lang="en" sz="1200">
                <a:solidFill>
                  <a:schemeClr val="dk1"/>
                </a:solidFill>
                <a:latin typeface="Times New Roman"/>
                <a:ea typeface="Times New Roman"/>
                <a:cs typeface="Times New Roman"/>
                <a:sym typeface="Times New Roman"/>
              </a:rPr>
              <a:t>Log templates are grouped into fixed-length time windows and fed into an LSTM Autoencoder — a neural network trained exclusively on normal log sequences. Windows that cannot be reconstructed well are flagged as anomalies.</a:t>
            </a:r>
            <a:endParaRPr sz="12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304800" lvl="0" marL="457200" rtl="0" algn="just">
              <a:spcBef>
                <a:spcPts val="0"/>
              </a:spcBef>
              <a:spcAft>
                <a:spcPts val="0"/>
              </a:spcAft>
              <a:buClr>
                <a:srgbClr val="1F1F1F"/>
              </a:buClr>
              <a:buSzPts val="1200"/>
              <a:buFont typeface="Times New Roman"/>
              <a:buChar char="●"/>
            </a:pPr>
            <a:r>
              <a:rPr lang="en" sz="1200">
                <a:solidFill>
                  <a:schemeClr val="dk1"/>
                </a:solidFill>
                <a:latin typeface="Times New Roman"/>
                <a:ea typeface="Times New Roman"/>
                <a:cs typeface="Times New Roman"/>
                <a:sym typeface="Times New Roman"/>
              </a:rPr>
              <a:t>Each log window is assigned a real-time risk score from 0 (normal) to 100 (critical). When the score exceeds a threshold, an alert is fired and the exact sequence of events leading to the anomaly is surfaced as a root-cause chain.</a:t>
            </a:r>
            <a:endParaRPr sz="12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304800" lvl="0" marL="457200" rtl="0" algn="just">
              <a:spcBef>
                <a:spcPts val="0"/>
              </a:spcBef>
              <a:spcAft>
                <a:spcPts val="0"/>
              </a:spcAft>
              <a:buClr>
                <a:srgbClr val="1F1F1F"/>
              </a:buClr>
              <a:buSzPts val="1200"/>
              <a:buFont typeface="Times New Roman"/>
              <a:buChar char="●"/>
            </a:pPr>
            <a:r>
              <a:rPr lang="en" sz="1200">
                <a:solidFill>
                  <a:schemeClr val="dk1"/>
                </a:solidFill>
                <a:latin typeface="Times New Roman"/>
                <a:ea typeface="Times New Roman"/>
                <a:cs typeface="Times New Roman"/>
                <a:sym typeface="Times New Roman"/>
              </a:rPr>
              <a:t>Results are displayed on a live React dashboard featuring a scrolling log stream, a real-time risk score graph, an anomaly timeline, and a comparison showing where static threshold-based tools would have failed.</a:t>
            </a:r>
            <a:endParaRPr sz="1200">
              <a:solidFill>
                <a:srgbClr val="1F1F1F"/>
              </a:solidFill>
              <a:latin typeface="Times New Roman"/>
              <a:ea typeface="Times New Roman"/>
              <a:cs typeface="Times New Roman"/>
              <a:sym typeface="Times New Roman"/>
            </a:endParaRPr>
          </a:p>
        </p:txBody>
      </p:sp>
      <p:sp>
        <p:nvSpPr>
          <p:cNvPr id="174" name="Google Shape;174;p27"/>
          <p:cNvSpPr txBox="1"/>
          <p:nvPr>
            <p:ph idx="10" type="dt"/>
          </p:nvPr>
        </p:nvSpPr>
        <p:spPr>
          <a:xfrm>
            <a:off x="6172200" y="4643438"/>
            <a:ext cx="1905000" cy="357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
                <a:solidFill>
                  <a:srgbClr val="1F497D"/>
                </a:solidFill>
                <a:latin typeface="Times New Roman"/>
                <a:ea typeface="Times New Roman"/>
                <a:cs typeface="Times New Roman"/>
                <a:sym typeface="Times New Roman"/>
              </a:rPr>
              <a:t>08/07/2026</a:t>
            </a:r>
            <a:endParaRPr>
              <a:solidFill>
                <a:srgbClr val="1F497D"/>
              </a:solidFill>
              <a:latin typeface="Times New Roman"/>
              <a:ea typeface="Times New Roman"/>
              <a:cs typeface="Times New Roman"/>
              <a:sym typeface="Times New Roman"/>
            </a:endParaRPr>
          </a:p>
        </p:txBody>
      </p:sp>
      <p:pic>
        <p:nvPicPr>
          <p:cNvPr id="175" name="Google Shape;175;p27"/>
          <p:cNvPicPr preferRelativeResize="0"/>
          <p:nvPr/>
        </p:nvPicPr>
        <p:blipFill rotWithShape="1">
          <a:blip r:embed="rId3">
            <a:alphaModFix/>
          </a:blip>
          <a:srcRect b="0" l="0" r="0" t="0"/>
          <a:stretch/>
        </p:blipFill>
        <p:spPr>
          <a:xfrm>
            <a:off x="8305800" y="4629150"/>
            <a:ext cx="400050" cy="393211"/>
          </a:xfrm>
          <a:prstGeom prst="rect">
            <a:avLst/>
          </a:prstGeom>
          <a:noFill/>
          <a:ln>
            <a:noFill/>
          </a:ln>
        </p:spPr>
      </p:pic>
      <p:sp>
        <p:nvSpPr>
          <p:cNvPr id="176" name="Google Shape;176;p27"/>
          <p:cNvSpPr txBox="1"/>
          <p:nvPr>
            <p:ph type="title"/>
          </p:nvPr>
        </p:nvSpPr>
        <p:spPr>
          <a:xfrm>
            <a:off x="685800" y="386550"/>
            <a:ext cx="7772400" cy="828600"/>
          </a:xfrm>
          <a:prstGeom prst="rect">
            <a:avLst/>
          </a:prstGeom>
          <a:noFill/>
          <a:ln>
            <a:noFill/>
          </a:ln>
        </p:spPr>
        <p:txBody>
          <a:bodyPr anchorCtr="0" anchor="b" bIns="91425" lIns="91425" spcFirstLastPara="1" rIns="91425" wrap="square" tIns="45700">
            <a:normAutofit fontScale="90000"/>
          </a:bodyPr>
          <a:lstStyle/>
          <a:p>
            <a:pPr indent="0" lvl="0" marL="0" rtl="0" algn="ctr">
              <a:lnSpc>
                <a:spcPct val="100000"/>
              </a:lnSpc>
              <a:spcBef>
                <a:spcPts val="0"/>
              </a:spcBef>
              <a:spcAft>
                <a:spcPts val="0"/>
              </a:spcAft>
              <a:buClr>
                <a:schemeClr val="dk2"/>
              </a:buClr>
              <a:buSzPct val="111111"/>
              <a:buFont typeface="Libre Franklin"/>
              <a:buNone/>
            </a:pPr>
            <a:r>
              <a:rPr lang="en">
                <a:latin typeface="Times New Roman"/>
                <a:ea typeface="Times New Roman"/>
                <a:cs typeface="Times New Roman"/>
                <a:sym typeface="Times New Roman"/>
              </a:rPr>
              <a:t>Introduction</a:t>
            </a:r>
            <a:endParaRPr>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2"/>
              </a:buClr>
              <a:buSzPct val="222222"/>
              <a:buFont typeface="Libre Franklin"/>
              <a:buNone/>
            </a:pPr>
            <a:r>
              <a:rPr lang="en" sz="2000">
                <a:latin typeface="Times New Roman"/>
                <a:ea typeface="Times New Roman"/>
                <a:cs typeface="Times New Roman"/>
                <a:sym typeface="Times New Roman"/>
              </a:rPr>
              <a:t>(About the Project)</a:t>
            </a:r>
            <a:endParaRPr sz="20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idx="11" type="ftr"/>
          </p:nvPr>
        </p:nvSpPr>
        <p:spPr>
          <a:xfrm>
            <a:off x="925933" y="4629150"/>
            <a:ext cx="5359200" cy="342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
                <a:solidFill>
                  <a:srgbClr val="1F497D"/>
                </a:solidFill>
              </a:rPr>
              <a:t>LogSentinel — AI-Driven Log Anomaly Detector</a:t>
            </a:r>
            <a:endParaRPr>
              <a:solidFill>
                <a:srgbClr val="1F497D"/>
              </a:solidFill>
            </a:endParaRPr>
          </a:p>
        </p:txBody>
      </p:sp>
      <p:sp>
        <p:nvSpPr>
          <p:cNvPr id="183" name="Google Shape;183;p28"/>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r>
              <a:rPr lang="en"/>
              <a:t>4</a:t>
            </a:r>
            <a:endParaRPr/>
          </a:p>
        </p:txBody>
      </p:sp>
      <p:sp>
        <p:nvSpPr>
          <p:cNvPr id="184" name="Google Shape;184;p28"/>
          <p:cNvSpPr/>
          <p:nvPr/>
        </p:nvSpPr>
        <p:spPr>
          <a:xfrm>
            <a:off x="793350" y="1582275"/>
            <a:ext cx="7557300" cy="2651700"/>
          </a:xfrm>
          <a:prstGeom prst="rect">
            <a:avLst/>
          </a:prstGeom>
          <a:noFill/>
          <a:ln>
            <a:noFill/>
          </a:ln>
        </p:spPr>
        <p:txBody>
          <a:bodyPr anchorCtr="0" anchor="ctr" bIns="0" lIns="0" spcFirstLastPara="1" rIns="0" wrap="square" tIns="0">
            <a:noAutofit/>
          </a:bodyPr>
          <a:lstStyle/>
          <a:p>
            <a:pPr indent="-298450" lvl="0" marL="457200" rtl="0" algn="l">
              <a:lnSpc>
                <a:spcPct val="115000"/>
              </a:lnSpc>
              <a:spcBef>
                <a:spcPts val="0"/>
              </a:spcBef>
              <a:spcAft>
                <a:spcPts val="0"/>
              </a:spcAft>
              <a:buClr>
                <a:schemeClr val="dk1"/>
              </a:buClr>
              <a:buSzPts val="1100"/>
              <a:buChar char="●"/>
            </a:pPr>
            <a:r>
              <a:rPr lang="en" sz="1200">
                <a:solidFill>
                  <a:srgbClr val="1F1F1F"/>
                </a:solidFill>
                <a:latin typeface="Times New Roman"/>
                <a:ea typeface="Times New Roman"/>
                <a:cs typeface="Times New Roman"/>
                <a:sym typeface="Times New Roman"/>
              </a:rPr>
              <a:t>Every production software system generates millions of log lines. When failures occur — often at 2 AM — engineers must manually search through this data, a process that typically takes 2–4 hours per incident, costing companies ₹1–10 crore per hour of downtime.</a:t>
            </a:r>
            <a:endParaRPr sz="1200">
              <a:solidFill>
                <a:srgbClr val="1F1F1F"/>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 sz="1200">
                <a:solidFill>
                  <a:srgbClr val="1F1F1F"/>
                </a:solidFill>
                <a:latin typeface="Times New Roman"/>
                <a:ea typeface="Times New Roman"/>
                <a:cs typeface="Times New Roman"/>
                <a:sym typeface="Times New Roman"/>
              </a:rPr>
              <a:t>Existing monitoring tools such as Datadog and Splunk rely on static thresholds (e.g., "alert when error count exceeds 100 in 5 minutes"). This approach misses subtle failures that produce only a few errors in an unusual sequence, and generates excessive false positives that cause alert fatigue.</a:t>
            </a:r>
            <a:endParaRPr sz="1200">
              <a:solidFill>
                <a:srgbClr val="1F1F1F"/>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 sz="1200">
                <a:solidFill>
                  <a:srgbClr val="1F1F1F"/>
                </a:solidFill>
                <a:latin typeface="Times New Roman"/>
                <a:ea typeface="Times New Roman"/>
                <a:cs typeface="Times New Roman"/>
                <a:sym typeface="Times New Roman"/>
              </a:rPr>
              <a:t>Manual investigation cannot detect indirect, multi-event failure patterns — such as a cascading database timeout sequence that involves only 3 errors but in a combination never previously observed. These failures go undetected until they escalate into full outages.</a:t>
            </a:r>
            <a:endParaRPr sz="1200">
              <a:solidFill>
                <a:srgbClr val="1F1F1F"/>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 sz="1200">
                <a:solidFill>
                  <a:srgbClr val="1F1F1F"/>
                </a:solidFill>
                <a:latin typeface="Times New Roman"/>
                <a:ea typeface="Times New Roman"/>
                <a:cs typeface="Times New Roman"/>
                <a:sym typeface="Times New Roman"/>
              </a:rPr>
              <a:t>A free, self-learning, and CI/CD-deployable tool that detects anomalies from sequence patterns rather than raw counts is essential. It reduces mean time to detection, preserves engineering capacity, and prevents failures from reaching production.</a:t>
            </a:r>
            <a:endParaRPr sz="1200">
              <a:solidFill>
                <a:srgbClr val="1F1F1F"/>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a:solidFill>
                <a:srgbClr val="1F1F1F"/>
              </a:solidFill>
              <a:latin typeface="Times New Roman"/>
              <a:ea typeface="Times New Roman"/>
              <a:cs typeface="Times New Roman"/>
              <a:sym typeface="Times New Roman"/>
            </a:endParaRPr>
          </a:p>
        </p:txBody>
      </p:sp>
      <p:sp>
        <p:nvSpPr>
          <p:cNvPr id="185" name="Google Shape;185;p28"/>
          <p:cNvSpPr txBox="1"/>
          <p:nvPr>
            <p:ph idx="10" type="dt"/>
          </p:nvPr>
        </p:nvSpPr>
        <p:spPr>
          <a:xfrm>
            <a:off x="6172200" y="4643438"/>
            <a:ext cx="1905000" cy="357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
                <a:solidFill>
                  <a:srgbClr val="1F497D"/>
                </a:solidFill>
                <a:latin typeface="Times New Roman"/>
                <a:ea typeface="Times New Roman"/>
                <a:cs typeface="Times New Roman"/>
                <a:sym typeface="Times New Roman"/>
              </a:rPr>
              <a:t>08/07/2026</a:t>
            </a:r>
            <a:endParaRPr>
              <a:solidFill>
                <a:srgbClr val="1F497D"/>
              </a:solidFill>
              <a:latin typeface="Times New Roman"/>
              <a:ea typeface="Times New Roman"/>
              <a:cs typeface="Times New Roman"/>
              <a:sym typeface="Times New Roman"/>
            </a:endParaRPr>
          </a:p>
        </p:txBody>
      </p:sp>
      <p:pic>
        <p:nvPicPr>
          <p:cNvPr id="186" name="Google Shape;186;p28"/>
          <p:cNvPicPr preferRelativeResize="0"/>
          <p:nvPr/>
        </p:nvPicPr>
        <p:blipFill rotWithShape="1">
          <a:blip r:embed="rId3">
            <a:alphaModFix/>
          </a:blip>
          <a:srcRect b="0" l="0" r="0" t="0"/>
          <a:stretch/>
        </p:blipFill>
        <p:spPr>
          <a:xfrm>
            <a:off x="8305800" y="4629150"/>
            <a:ext cx="400050" cy="393211"/>
          </a:xfrm>
          <a:prstGeom prst="rect">
            <a:avLst/>
          </a:prstGeom>
          <a:noFill/>
          <a:ln>
            <a:noFill/>
          </a:ln>
        </p:spPr>
      </p:pic>
      <p:sp>
        <p:nvSpPr>
          <p:cNvPr id="187" name="Google Shape;187;p28"/>
          <p:cNvSpPr txBox="1"/>
          <p:nvPr>
            <p:ph type="title"/>
          </p:nvPr>
        </p:nvSpPr>
        <p:spPr>
          <a:xfrm>
            <a:off x="794649" y="595604"/>
            <a:ext cx="7417800" cy="577200"/>
          </a:xfrm>
          <a:prstGeom prst="rect">
            <a:avLst/>
          </a:prstGeom>
          <a:noFill/>
          <a:ln>
            <a:noFill/>
          </a:ln>
        </p:spPr>
        <p:txBody>
          <a:bodyPr anchorCtr="0" anchor="b" bIns="91425" lIns="91425" spcFirstLastPara="1" rIns="91425" wrap="square" tIns="45700">
            <a:normAutofit fontScale="90000"/>
          </a:bodyPr>
          <a:lstStyle/>
          <a:p>
            <a:pPr indent="0" lvl="0" marL="0" rtl="0" algn="ctr">
              <a:lnSpc>
                <a:spcPct val="100000"/>
              </a:lnSpc>
              <a:spcBef>
                <a:spcPts val="0"/>
              </a:spcBef>
              <a:spcAft>
                <a:spcPts val="0"/>
              </a:spcAft>
              <a:buClr>
                <a:schemeClr val="dk2"/>
              </a:buClr>
              <a:buSzPct val="111111"/>
              <a:buFont typeface="Libre Franklin"/>
              <a:buNone/>
            </a:pPr>
            <a:r>
              <a:rPr lang="en">
                <a:latin typeface="Times New Roman"/>
                <a:ea typeface="Times New Roman"/>
                <a:cs typeface="Times New Roman"/>
                <a:sym typeface="Times New Roman"/>
              </a:rPr>
              <a:t>Introduction</a:t>
            </a:r>
            <a:endParaRPr>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2"/>
              </a:buClr>
              <a:buSzPct val="233918"/>
              <a:buFont typeface="Libre Franklin"/>
              <a:buNone/>
            </a:pPr>
            <a:r>
              <a:rPr lang="en" sz="1900">
                <a:latin typeface="Times New Roman"/>
                <a:ea typeface="Times New Roman"/>
                <a:cs typeface="Times New Roman"/>
                <a:sym typeface="Times New Roman"/>
              </a:rPr>
              <a:t>(Need of the Project)</a:t>
            </a:r>
            <a:endParaRPr sz="19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9"/>
          <p:cNvSpPr txBox="1"/>
          <p:nvPr>
            <p:ph idx="11" type="ftr"/>
          </p:nvPr>
        </p:nvSpPr>
        <p:spPr>
          <a:xfrm>
            <a:off x="914400" y="4629150"/>
            <a:ext cx="4939800" cy="342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
                <a:solidFill>
                  <a:srgbClr val="1F497D"/>
                </a:solidFill>
              </a:rPr>
              <a:t>LogSentinel — AI-Driven Log Anomaly Detector</a:t>
            </a:r>
            <a:endParaRPr>
              <a:solidFill>
                <a:srgbClr val="1F497D"/>
              </a:solidFill>
            </a:endParaRPr>
          </a:p>
        </p:txBody>
      </p:sp>
      <p:sp>
        <p:nvSpPr>
          <p:cNvPr id="194" name="Google Shape;194;p29"/>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r>
              <a:rPr lang="en"/>
              <a:t>4</a:t>
            </a:r>
            <a:endParaRPr/>
          </a:p>
        </p:txBody>
      </p:sp>
      <p:sp>
        <p:nvSpPr>
          <p:cNvPr id="195" name="Google Shape;195;p29"/>
          <p:cNvSpPr/>
          <p:nvPr/>
        </p:nvSpPr>
        <p:spPr>
          <a:xfrm>
            <a:off x="670100" y="1228775"/>
            <a:ext cx="7647000" cy="3201000"/>
          </a:xfrm>
          <a:prstGeom prst="rect">
            <a:avLst/>
          </a:prstGeom>
          <a:noFill/>
          <a:ln>
            <a:noFill/>
          </a:ln>
        </p:spPr>
        <p:txBody>
          <a:bodyPr anchorCtr="0" anchor="ctr" bIns="0" lIns="0" spcFirstLastPara="1" rIns="0" wrap="square" tIns="0">
            <a:noAutofit/>
          </a:bodyPr>
          <a:lstStyle/>
          <a:p>
            <a:pPr indent="-311150" lvl="0" marL="457200" rtl="0" algn="just">
              <a:spcBef>
                <a:spcPts val="0"/>
              </a:spcBef>
              <a:spcAft>
                <a:spcPts val="0"/>
              </a:spcAft>
              <a:buClr>
                <a:srgbClr val="1F1F1F"/>
              </a:buClr>
              <a:buSzPts val="1300"/>
              <a:buFont typeface="Times New Roman"/>
              <a:buChar char="●"/>
            </a:pPr>
            <a:r>
              <a:rPr lang="en" sz="1200">
                <a:solidFill>
                  <a:schemeClr val="dk1"/>
                </a:solidFill>
                <a:latin typeface="Times New Roman"/>
                <a:ea typeface="Times New Roman"/>
                <a:cs typeface="Times New Roman"/>
                <a:sym typeface="Times New Roman"/>
              </a:rPr>
              <a:t>Organizations currently rely on rule-based monitoring tools that require manual threshold configuration. These thresholds must be tuned per service, do not adapt to changing traffic patterns, and require ongoing maintenance as systems evolve.</a:t>
            </a:r>
            <a:endParaRPr sz="12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311150" lvl="0" marL="457200" rtl="0" algn="just">
              <a:spcBef>
                <a:spcPts val="0"/>
              </a:spcBef>
              <a:spcAft>
                <a:spcPts val="0"/>
              </a:spcAft>
              <a:buClr>
                <a:srgbClr val="1F1F1F"/>
              </a:buClr>
              <a:buSzPts val="1300"/>
              <a:buFont typeface="Times New Roman"/>
              <a:buChar char="●"/>
            </a:pPr>
            <a:r>
              <a:rPr lang="en" sz="1200">
                <a:solidFill>
                  <a:schemeClr val="dk1"/>
                </a:solidFill>
                <a:latin typeface="Times New Roman"/>
                <a:ea typeface="Times New Roman"/>
                <a:cs typeface="Times New Roman"/>
                <a:sym typeface="Times New Roman"/>
              </a:rPr>
              <a:t>Tools like Datadog and Splunk alert on aggregate counts (errors per minute, latency p99). They cannot detect anomalies that arise from the </a:t>
            </a:r>
            <a:r>
              <a:rPr i="1" lang="en" sz="1200">
                <a:solidFill>
                  <a:schemeClr val="dk1"/>
                </a:solidFill>
                <a:latin typeface="Times New Roman"/>
                <a:ea typeface="Times New Roman"/>
                <a:cs typeface="Times New Roman"/>
                <a:sym typeface="Times New Roman"/>
              </a:rPr>
              <a:t>sequence</a:t>
            </a:r>
            <a:r>
              <a:rPr lang="en" sz="1200">
                <a:solidFill>
                  <a:schemeClr val="dk1"/>
                </a:solidFill>
                <a:latin typeface="Times New Roman"/>
                <a:ea typeface="Times New Roman"/>
                <a:cs typeface="Times New Roman"/>
                <a:sym typeface="Times New Roman"/>
              </a:rPr>
              <a:t> or </a:t>
            </a:r>
            <a:r>
              <a:rPr i="1" lang="en" sz="1200">
                <a:solidFill>
                  <a:schemeClr val="dk1"/>
                </a:solidFill>
                <a:latin typeface="Times New Roman"/>
                <a:ea typeface="Times New Roman"/>
                <a:cs typeface="Times New Roman"/>
                <a:sym typeface="Times New Roman"/>
              </a:rPr>
              <a:t>pattern</a:t>
            </a:r>
            <a:r>
              <a:rPr lang="en" sz="1200">
                <a:solidFill>
                  <a:schemeClr val="dk1"/>
                </a:solidFill>
                <a:latin typeface="Times New Roman"/>
                <a:ea typeface="Times New Roman"/>
                <a:cs typeface="Times New Roman"/>
                <a:sym typeface="Times New Roman"/>
              </a:rPr>
              <a:t> of events — only their volume. A failure producing 3 unusual errors is completely invisible to these systems.</a:t>
            </a:r>
            <a:endParaRPr sz="12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311150" lvl="0" marL="457200" rtl="0" algn="just">
              <a:spcBef>
                <a:spcPts val="0"/>
              </a:spcBef>
              <a:spcAft>
                <a:spcPts val="0"/>
              </a:spcAft>
              <a:buClr>
                <a:srgbClr val="1F1F1F"/>
              </a:buClr>
              <a:buSzPts val="1300"/>
              <a:buFont typeface="Times New Roman"/>
              <a:buChar char="●"/>
            </a:pPr>
            <a:r>
              <a:rPr lang="en" sz="1200">
                <a:solidFill>
                  <a:schemeClr val="dk1"/>
                </a:solidFill>
                <a:latin typeface="Times New Roman"/>
                <a:ea typeface="Times New Roman"/>
                <a:cs typeface="Times New Roman"/>
                <a:sym typeface="Times New Roman"/>
              </a:rPr>
              <a:t>Splunk and Datadog carry significant operational costs (₹1,000–5,000+ per server per month). Smaller engineering teams and student/startup environments lack access to this class of tooling, leaving their systems unmonitored or poorly monitored.</a:t>
            </a:r>
            <a:endParaRPr sz="12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311150" lvl="0" marL="457200" rtl="0" algn="just">
              <a:spcBef>
                <a:spcPts val="0"/>
              </a:spcBef>
              <a:spcAft>
                <a:spcPts val="0"/>
              </a:spcAft>
              <a:buClr>
                <a:srgbClr val="1F1F1F"/>
              </a:buClr>
              <a:buSzPts val="1300"/>
              <a:buFont typeface="Times New Roman"/>
              <a:buChar char="●"/>
            </a:pPr>
            <a:r>
              <a:rPr lang="en" sz="1200">
                <a:solidFill>
                  <a:schemeClr val="dk1"/>
                </a:solidFill>
                <a:latin typeface="Times New Roman"/>
                <a:ea typeface="Times New Roman"/>
                <a:cs typeface="Times New Roman"/>
                <a:sym typeface="Times New Roman"/>
              </a:rPr>
              <a:t>No existing free and open-source solution combines intelligent log parsing, learned sequence modeling, real-time risk scoring, root-cause chain visualization, and a live dashboard in a single lightweight platform.</a:t>
            </a:r>
            <a:endParaRPr sz="12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200">
              <a:solidFill>
                <a:srgbClr val="1F1F1F"/>
              </a:solidFill>
              <a:latin typeface="Times New Roman"/>
              <a:ea typeface="Times New Roman"/>
              <a:cs typeface="Times New Roman"/>
              <a:sym typeface="Times New Roman"/>
            </a:endParaRPr>
          </a:p>
        </p:txBody>
      </p:sp>
      <p:sp>
        <p:nvSpPr>
          <p:cNvPr id="196" name="Google Shape;196;p29"/>
          <p:cNvSpPr txBox="1"/>
          <p:nvPr>
            <p:ph idx="10" type="dt"/>
          </p:nvPr>
        </p:nvSpPr>
        <p:spPr>
          <a:xfrm>
            <a:off x="6172200" y="4643438"/>
            <a:ext cx="1905000" cy="357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
                <a:solidFill>
                  <a:srgbClr val="1F497D"/>
                </a:solidFill>
                <a:latin typeface="Times New Roman"/>
                <a:ea typeface="Times New Roman"/>
                <a:cs typeface="Times New Roman"/>
                <a:sym typeface="Times New Roman"/>
              </a:rPr>
              <a:t>08/07/2026</a:t>
            </a:r>
            <a:endParaRPr>
              <a:solidFill>
                <a:srgbClr val="1F497D"/>
              </a:solidFill>
              <a:latin typeface="Times New Roman"/>
              <a:ea typeface="Times New Roman"/>
              <a:cs typeface="Times New Roman"/>
              <a:sym typeface="Times New Roman"/>
            </a:endParaRPr>
          </a:p>
        </p:txBody>
      </p:sp>
      <p:pic>
        <p:nvPicPr>
          <p:cNvPr id="197" name="Google Shape;197;p29"/>
          <p:cNvPicPr preferRelativeResize="0"/>
          <p:nvPr/>
        </p:nvPicPr>
        <p:blipFill rotWithShape="1">
          <a:blip r:embed="rId3">
            <a:alphaModFix/>
          </a:blip>
          <a:srcRect b="0" l="0" r="0" t="0"/>
          <a:stretch/>
        </p:blipFill>
        <p:spPr>
          <a:xfrm>
            <a:off x="8305800" y="4629150"/>
            <a:ext cx="400050" cy="393211"/>
          </a:xfrm>
          <a:prstGeom prst="rect">
            <a:avLst/>
          </a:prstGeom>
          <a:noFill/>
          <a:ln>
            <a:noFill/>
          </a:ln>
        </p:spPr>
      </p:pic>
      <p:sp>
        <p:nvSpPr>
          <p:cNvPr id="198" name="Google Shape;198;p29"/>
          <p:cNvSpPr txBox="1"/>
          <p:nvPr>
            <p:ph type="title"/>
          </p:nvPr>
        </p:nvSpPr>
        <p:spPr>
          <a:xfrm>
            <a:off x="784699" y="742563"/>
            <a:ext cx="7417800" cy="577200"/>
          </a:xfrm>
          <a:prstGeom prst="rect">
            <a:avLst/>
          </a:prstGeom>
          <a:noFill/>
          <a:ln>
            <a:noFill/>
          </a:ln>
        </p:spPr>
        <p:txBody>
          <a:bodyPr anchorCtr="0" anchor="b" bIns="91425" lIns="91425" spcFirstLastPara="1" rIns="91425" wrap="square" tIns="45700">
            <a:normAutofit fontScale="90000"/>
          </a:bodyPr>
          <a:lstStyle/>
          <a:p>
            <a:pPr indent="0" lvl="0" marL="0" rtl="0" algn="ctr">
              <a:lnSpc>
                <a:spcPct val="100000"/>
              </a:lnSpc>
              <a:spcBef>
                <a:spcPts val="0"/>
              </a:spcBef>
              <a:spcAft>
                <a:spcPts val="0"/>
              </a:spcAft>
              <a:buClr>
                <a:schemeClr val="dk2"/>
              </a:buClr>
              <a:buSzPct val="111111"/>
              <a:buFont typeface="Libre Franklin"/>
              <a:buNone/>
            </a:pPr>
            <a:r>
              <a:rPr lang="en">
                <a:latin typeface="Times New Roman"/>
                <a:ea typeface="Times New Roman"/>
                <a:cs typeface="Times New Roman"/>
                <a:sym typeface="Times New Roman"/>
              </a:rPr>
              <a:t>Introduction</a:t>
            </a:r>
            <a:endParaRPr>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2"/>
              </a:buClr>
              <a:buSzPct val="222222"/>
              <a:buFont typeface="Libre Franklin"/>
              <a:buNone/>
            </a:pPr>
            <a:r>
              <a:rPr lang="en" sz="2000">
                <a:latin typeface="Times New Roman"/>
                <a:ea typeface="Times New Roman"/>
                <a:cs typeface="Times New Roman"/>
                <a:sym typeface="Times New Roman"/>
              </a:rPr>
              <a:t>(Existing System)</a:t>
            </a:r>
            <a:endParaRPr sz="20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0"/>
          <p:cNvSpPr txBox="1"/>
          <p:nvPr>
            <p:ph type="title"/>
          </p:nvPr>
        </p:nvSpPr>
        <p:spPr>
          <a:xfrm>
            <a:off x="802850" y="331031"/>
            <a:ext cx="7772400" cy="531000"/>
          </a:xfrm>
          <a:prstGeom prst="rect">
            <a:avLst/>
          </a:prstGeom>
          <a:noFill/>
          <a:ln>
            <a:noFill/>
          </a:ln>
        </p:spPr>
        <p:txBody>
          <a:bodyPr anchorCtr="0" anchor="b" bIns="91425" lIns="91425" spcFirstLastPara="1" rIns="91425" wrap="square" tIns="45700">
            <a:normAutofit fontScale="90000"/>
          </a:bodyPr>
          <a:lstStyle/>
          <a:p>
            <a:pPr indent="0" lvl="0" marL="0" rtl="0" algn="ctr">
              <a:lnSpc>
                <a:spcPct val="100000"/>
              </a:lnSpc>
              <a:spcBef>
                <a:spcPts val="0"/>
              </a:spcBef>
              <a:spcAft>
                <a:spcPts val="0"/>
              </a:spcAft>
              <a:buClr>
                <a:schemeClr val="dk2"/>
              </a:buClr>
              <a:buSzPct val="100000"/>
              <a:buFont typeface="Libre Franklin"/>
              <a:buNone/>
            </a:pPr>
            <a:r>
              <a:rPr lang="en"/>
              <a:t>Literature Review</a:t>
            </a:r>
            <a:endParaRPr/>
          </a:p>
        </p:txBody>
      </p:sp>
      <p:sp>
        <p:nvSpPr>
          <p:cNvPr id="204" name="Google Shape;204;p30"/>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r>
              <a:rPr lang="en"/>
              <a:t>6</a:t>
            </a:r>
            <a:endParaRPr/>
          </a:p>
        </p:txBody>
      </p:sp>
      <p:pic>
        <p:nvPicPr>
          <p:cNvPr id="205" name="Google Shape;205;p30"/>
          <p:cNvPicPr preferRelativeResize="0"/>
          <p:nvPr/>
        </p:nvPicPr>
        <p:blipFill rotWithShape="1">
          <a:blip r:embed="rId3">
            <a:alphaModFix/>
          </a:blip>
          <a:srcRect b="0" l="0" r="0" t="0"/>
          <a:stretch/>
        </p:blipFill>
        <p:spPr>
          <a:xfrm>
            <a:off x="8305800" y="4629150"/>
            <a:ext cx="400050" cy="393211"/>
          </a:xfrm>
          <a:prstGeom prst="rect">
            <a:avLst/>
          </a:prstGeom>
          <a:noFill/>
          <a:ln>
            <a:noFill/>
          </a:ln>
        </p:spPr>
      </p:pic>
      <p:sp>
        <p:nvSpPr>
          <p:cNvPr id="206" name="Google Shape;206;p30"/>
          <p:cNvSpPr txBox="1"/>
          <p:nvPr>
            <p:ph idx="11" type="ftr"/>
          </p:nvPr>
        </p:nvSpPr>
        <p:spPr>
          <a:xfrm>
            <a:off x="914400" y="4629150"/>
            <a:ext cx="4833000" cy="342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
                <a:solidFill>
                  <a:srgbClr val="1F497D"/>
                </a:solidFill>
              </a:rPr>
              <a:t>LogSentinel — AI-Driven Log Anomaly Detector</a:t>
            </a:r>
            <a:endParaRPr>
              <a:solidFill>
                <a:srgbClr val="1F497D"/>
              </a:solidFill>
            </a:endParaRPr>
          </a:p>
        </p:txBody>
      </p:sp>
      <p:sp>
        <p:nvSpPr>
          <p:cNvPr id="207" name="Google Shape;207;p30"/>
          <p:cNvSpPr txBox="1"/>
          <p:nvPr>
            <p:ph idx="10" type="dt"/>
          </p:nvPr>
        </p:nvSpPr>
        <p:spPr>
          <a:xfrm>
            <a:off x="6172200" y="4643438"/>
            <a:ext cx="1905000" cy="357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
                <a:solidFill>
                  <a:srgbClr val="1F497D"/>
                </a:solidFill>
                <a:latin typeface="Times New Roman"/>
                <a:ea typeface="Times New Roman"/>
                <a:cs typeface="Times New Roman"/>
                <a:sym typeface="Times New Roman"/>
              </a:rPr>
              <a:t>08/07/2026</a:t>
            </a:r>
            <a:endParaRPr>
              <a:solidFill>
                <a:srgbClr val="1F497D"/>
              </a:solidFill>
              <a:latin typeface="Times New Roman"/>
              <a:ea typeface="Times New Roman"/>
              <a:cs typeface="Times New Roman"/>
              <a:sym typeface="Times New Roman"/>
            </a:endParaRPr>
          </a:p>
        </p:txBody>
      </p:sp>
      <p:graphicFrame>
        <p:nvGraphicFramePr>
          <p:cNvPr id="208" name="Google Shape;208;p30"/>
          <p:cNvGraphicFramePr/>
          <p:nvPr/>
        </p:nvGraphicFramePr>
        <p:xfrm>
          <a:off x="381000" y="862025"/>
          <a:ext cx="3000000" cy="3000000"/>
        </p:xfrm>
        <a:graphic>
          <a:graphicData uri="http://schemas.openxmlformats.org/drawingml/2006/table">
            <a:tbl>
              <a:tblPr>
                <a:noFill/>
                <a:tableStyleId>{67D36C0A-AAA5-4F11-8324-98C63C33686D}</a:tableStyleId>
              </a:tblPr>
              <a:tblGrid>
                <a:gridCol w="1173925"/>
                <a:gridCol w="1685525"/>
                <a:gridCol w="1566725"/>
                <a:gridCol w="1900575"/>
                <a:gridCol w="1998100"/>
              </a:tblGrid>
              <a:tr h="821200">
                <a:tc>
                  <a:txBody>
                    <a:bodyPr/>
                    <a:lstStyle/>
                    <a:p>
                      <a:pPr indent="0" lvl="0" marL="0" rtl="0" algn="ctr">
                        <a:lnSpc>
                          <a:spcPct val="115000"/>
                        </a:lnSpc>
                        <a:spcBef>
                          <a:spcPts val="0"/>
                        </a:spcBef>
                        <a:spcAft>
                          <a:spcPts val="0"/>
                        </a:spcAft>
                        <a:buClr>
                          <a:schemeClr val="dk1"/>
                        </a:buClr>
                        <a:buSzPts val="1100"/>
                        <a:buFont typeface="Arial"/>
                        <a:buNone/>
                      </a:pPr>
                      <a:r>
                        <a:rPr b="1" lang="en" sz="1600">
                          <a:solidFill>
                            <a:schemeClr val="dk1"/>
                          </a:solidFill>
                          <a:latin typeface="Times New Roman"/>
                          <a:ea typeface="Times New Roman"/>
                          <a:cs typeface="Times New Roman"/>
                          <a:sym typeface="Times New Roman"/>
                        </a:rPr>
                        <a:t>Year of the paper</a:t>
                      </a:r>
                      <a:endParaRPr sz="16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 sz="1600">
                          <a:solidFill>
                            <a:schemeClr val="dk1"/>
                          </a:solidFill>
                          <a:latin typeface="Times New Roman"/>
                          <a:ea typeface="Times New Roman"/>
                          <a:cs typeface="Times New Roman"/>
                          <a:sym typeface="Times New Roman"/>
                        </a:rPr>
                        <a:t>Objective</a:t>
                      </a:r>
                      <a:endParaRPr b="1" sz="16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b="1" lang="en" sz="1600">
                          <a:solidFill>
                            <a:schemeClr val="dk1"/>
                          </a:solidFill>
                          <a:latin typeface="Times New Roman"/>
                          <a:ea typeface="Times New Roman"/>
                          <a:cs typeface="Times New Roman"/>
                          <a:sym typeface="Times New Roman"/>
                        </a:rPr>
                        <a:t>Methodology</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b="1" lang="en" sz="1600">
                          <a:solidFill>
                            <a:schemeClr val="dk1"/>
                          </a:solidFill>
                          <a:latin typeface="Times New Roman"/>
                          <a:ea typeface="Times New Roman"/>
                          <a:cs typeface="Times New Roman"/>
                          <a:sym typeface="Times New Roman"/>
                        </a:rPr>
                        <a:t>Key Findings</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b="1" lang="en" sz="1600">
                          <a:solidFill>
                            <a:schemeClr val="dk1"/>
                          </a:solidFill>
                          <a:latin typeface="Times New Roman"/>
                          <a:ea typeface="Times New Roman"/>
                          <a:cs typeface="Times New Roman"/>
                          <a:sym typeface="Times New Roman"/>
                        </a:rPr>
                        <a:t>Research Gap</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latin typeface="Times New Roman"/>
                        <a:ea typeface="Times New Roman"/>
                        <a:cs typeface="Times New Roman"/>
                        <a:sym typeface="Times New Roman"/>
                      </a:endParaRPr>
                    </a:p>
                  </a:txBody>
                  <a:tcPr marT="91425" marB="91425" marR="91425" marL="91425"/>
                </a:tc>
              </a:tr>
              <a:tr h="1130400">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2023</a:t>
                      </a:r>
                      <a:endParaRPr sz="1200">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Survey deep learning approaches to log anomaly detection across multiple systems</a:t>
                      </a:r>
                      <a:endParaRPr sz="1200">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Reviewed and compared supervised, unsupervised, and semi-supervised DL methods on public log datasets</a:t>
                      </a:r>
                      <a:endParaRPr sz="1200">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LSTM and Transformer-based models consistently outperform rule-based baselines; autoencoders effective for unsupervised settings</a:t>
                      </a:r>
                      <a:endParaRPr sz="1200">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Most methods validated offline; real-time deployability and lightweight stack design remain under-explored</a:t>
                      </a:r>
                      <a:endParaRPr sz="1200">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r>
              <a:tr h="1496300">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2025</a:t>
                      </a:r>
                      <a:endParaRPr sz="12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Provide a scalable online log parsing algorithm for production use</a:t>
                      </a:r>
                      <a:endParaRPr sz="12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Proposed Drain, a fixed-depth-tree parser that extracts log templates from raw log lines in real time</a:t>
                      </a:r>
                      <a:endParaRPr sz="12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Highly accurate and efficient; applicable to diverse log formats without manual grammar specification</a:t>
                      </a:r>
                      <a:endParaRPr sz="12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Parsing only; no anomaly detection component or integration with ML pipelines</a:t>
                      </a:r>
                      <a:endParaRPr sz="12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1"/>
          <p:cNvSpPr txBox="1"/>
          <p:nvPr>
            <p:ph type="title"/>
          </p:nvPr>
        </p:nvSpPr>
        <p:spPr>
          <a:xfrm>
            <a:off x="802850" y="331031"/>
            <a:ext cx="7772400" cy="531000"/>
          </a:xfrm>
          <a:prstGeom prst="rect">
            <a:avLst/>
          </a:prstGeom>
          <a:noFill/>
          <a:ln>
            <a:noFill/>
          </a:ln>
        </p:spPr>
        <p:txBody>
          <a:bodyPr anchorCtr="0" anchor="b" bIns="91425" lIns="91425" spcFirstLastPara="1" rIns="91425" wrap="square" tIns="45700">
            <a:normAutofit fontScale="90000"/>
          </a:bodyPr>
          <a:lstStyle/>
          <a:p>
            <a:pPr indent="0" lvl="0" marL="0" rtl="0" algn="ctr">
              <a:lnSpc>
                <a:spcPct val="100000"/>
              </a:lnSpc>
              <a:spcBef>
                <a:spcPts val="0"/>
              </a:spcBef>
              <a:spcAft>
                <a:spcPts val="0"/>
              </a:spcAft>
              <a:buClr>
                <a:schemeClr val="dk2"/>
              </a:buClr>
              <a:buSzPct val="100000"/>
              <a:buFont typeface="Libre Franklin"/>
              <a:buNone/>
            </a:pPr>
            <a:r>
              <a:rPr lang="en"/>
              <a:t>Literature Review</a:t>
            </a:r>
            <a:endParaRPr/>
          </a:p>
        </p:txBody>
      </p:sp>
      <p:sp>
        <p:nvSpPr>
          <p:cNvPr id="214" name="Google Shape;214;p31"/>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r>
              <a:rPr lang="en"/>
              <a:t>5</a:t>
            </a:r>
            <a:endParaRPr/>
          </a:p>
        </p:txBody>
      </p:sp>
      <p:pic>
        <p:nvPicPr>
          <p:cNvPr id="215" name="Google Shape;215;p31"/>
          <p:cNvPicPr preferRelativeResize="0"/>
          <p:nvPr/>
        </p:nvPicPr>
        <p:blipFill rotWithShape="1">
          <a:blip r:embed="rId3">
            <a:alphaModFix/>
          </a:blip>
          <a:srcRect b="0" l="0" r="0" t="0"/>
          <a:stretch/>
        </p:blipFill>
        <p:spPr>
          <a:xfrm>
            <a:off x="8305800" y="4629150"/>
            <a:ext cx="400050" cy="393211"/>
          </a:xfrm>
          <a:prstGeom prst="rect">
            <a:avLst/>
          </a:prstGeom>
          <a:noFill/>
          <a:ln>
            <a:noFill/>
          </a:ln>
        </p:spPr>
      </p:pic>
      <p:graphicFrame>
        <p:nvGraphicFramePr>
          <p:cNvPr id="216" name="Google Shape;216;p31"/>
          <p:cNvGraphicFramePr/>
          <p:nvPr/>
        </p:nvGraphicFramePr>
        <p:xfrm>
          <a:off x="409575" y="694350"/>
          <a:ext cx="3000000" cy="3000000"/>
        </p:xfrm>
        <a:graphic>
          <a:graphicData uri="http://schemas.openxmlformats.org/drawingml/2006/table">
            <a:tbl>
              <a:tblPr>
                <a:noFill/>
                <a:tableStyleId>{67D36C0A-AAA5-4F11-8324-98C63C33686D}</a:tableStyleId>
              </a:tblPr>
              <a:tblGrid>
                <a:gridCol w="1173925"/>
                <a:gridCol w="1685525"/>
                <a:gridCol w="1566725"/>
                <a:gridCol w="1900575"/>
                <a:gridCol w="1998100"/>
              </a:tblGrid>
              <a:tr h="821200">
                <a:tc>
                  <a:txBody>
                    <a:bodyPr/>
                    <a:lstStyle/>
                    <a:p>
                      <a:pPr indent="0" lvl="0" marL="0" rtl="0" algn="ctr">
                        <a:lnSpc>
                          <a:spcPct val="115000"/>
                        </a:lnSpc>
                        <a:spcBef>
                          <a:spcPts val="0"/>
                        </a:spcBef>
                        <a:spcAft>
                          <a:spcPts val="0"/>
                        </a:spcAft>
                        <a:buClr>
                          <a:schemeClr val="dk1"/>
                        </a:buClr>
                        <a:buSzPts val="1100"/>
                        <a:buFont typeface="Arial"/>
                        <a:buNone/>
                      </a:pPr>
                      <a:r>
                        <a:rPr b="1" lang="en" sz="1600">
                          <a:solidFill>
                            <a:schemeClr val="dk1"/>
                          </a:solidFill>
                          <a:latin typeface="Times New Roman"/>
                          <a:ea typeface="Times New Roman"/>
                          <a:cs typeface="Times New Roman"/>
                          <a:sym typeface="Times New Roman"/>
                        </a:rPr>
                        <a:t>Year of the paper</a:t>
                      </a:r>
                      <a:endParaRPr sz="16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 sz="1600">
                          <a:solidFill>
                            <a:schemeClr val="dk1"/>
                          </a:solidFill>
                          <a:latin typeface="Times New Roman"/>
                          <a:ea typeface="Times New Roman"/>
                          <a:cs typeface="Times New Roman"/>
                          <a:sym typeface="Times New Roman"/>
                        </a:rPr>
                        <a:t>Objective</a:t>
                      </a:r>
                      <a:endParaRPr b="1" sz="16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b="1" lang="en" sz="1600">
                          <a:solidFill>
                            <a:schemeClr val="dk1"/>
                          </a:solidFill>
                          <a:latin typeface="Times New Roman"/>
                          <a:ea typeface="Times New Roman"/>
                          <a:cs typeface="Times New Roman"/>
                          <a:sym typeface="Times New Roman"/>
                        </a:rPr>
                        <a:t>Methodology</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b="1" lang="en" sz="1600">
                          <a:solidFill>
                            <a:schemeClr val="dk1"/>
                          </a:solidFill>
                          <a:latin typeface="Times New Roman"/>
                          <a:ea typeface="Times New Roman"/>
                          <a:cs typeface="Times New Roman"/>
                          <a:sym typeface="Times New Roman"/>
                        </a:rPr>
                        <a:t>Key Findings</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b="1" lang="en" sz="1600">
                          <a:solidFill>
                            <a:schemeClr val="dk1"/>
                          </a:solidFill>
                          <a:latin typeface="Times New Roman"/>
                          <a:ea typeface="Times New Roman"/>
                          <a:cs typeface="Times New Roman"/>
                          <a:sym typeface="Times New Roman"/>
                        </a:rPr>
                        <a:t>Research Gap</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latin typeface="Times New Roman"/>
                        <a:ea typeface="Times New Roman"/>
                        <a:cs typeface="Times New Roman"/>
                        <a:sym typeface="Times New Roman"/>
                      </a:endParaRPr>
                    </a:p>
                  </a:txBody>
                  <a:tcPr marT="91425" marB="91425" marR="91425" marL="91425"/>
                </a:tc>
              </a:tr>
              <a:tr h="1130400">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2024</a:t>
                      </a:r>
                      <a:endParaRPr sz="1200">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Detect anomalies directly from raw logs without log parsing. </a:t>
                      </a:r>
                      <a:endParaRPr sz="1200">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Used an end-to-end character-level CNN model on raw log messages. </a:t>
                      </a:r>
                      <a:endParaRPr sz="1200">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Achieved high accuracy (≈99% F1) and reduced preprocessing effort. </a:t>
                      </a:r>
                      <a:endParaRPr sz="1200">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High computational cost; lacks real-time monitoring and explainability. </a:t>
                      </a:r>
                      <a:endParaRPr sz="1200">
                        <a:latin typeface="Times New Roman"/>
                        <a:ea typeface="Times New Roman"/>
                        <a:cs typeface="Times New Roman"/>
                        <a:sym typeface="Times New Roman"/>
                      </a:endParaRPr>
                    </a:p>
                  </a:txBody>
                  <a:tcPr marT="91425" marB="91425" marR="91425" marL="91425">
                    <a:lnB cap="flat" cmpd="sng" w="9525">
                      <a:solidFill>
                        <a:srgbClr val="9E9E9E"/>
                      </a:solidFill>
                      <a:prstDash val="solid"/>
                      <a:round/>
                      <a:headEnd len="sm" w="sm" type="none"/>
                      <a:tailEnd len="sm" w="sm" type="none"/>
                    </a:lnB>
                  </a:tcPr>
                </a:tc>
              </a:tr>
              <a:tr h="1496300">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20</a:t>
                      </a:r>
                      <a:r>
                        <a:rPr lang="en" sz="1200">
                          <a:latin typeface="Times New Roman"/>
                          <a:ea typeface="Times New Roman"/>
                          <a:cs typeface="Times New Roman"/>
                          <a:sym typeface="Times New Roman"/>
                        </a:rPr>
                        <a:t>19</a:t>
                      </a:r>
                      <a:endParaRPr sz="12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To Improve anomaly detection by incorporating semantic meaning of log events </a:t>
                      </a:r>
                      <a:endParaRPr sz="12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Proposed LogAnomaly using template2vec to capture log semantics; detected both sequential and quantitative anomalies </a:t>
                      </a:r>
                      <a:endParaRPr sz="12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Better generalization to unseen log patterns compared to purely key-based approaches</a:t>
                      </a:r>
                      <a:endParaRPr sz="12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Does not integrate with CI/CD or real-time monitoring pipelines; no live dashboard</a:t>
                      </a:r>
                      <a:endParaRPr sz="12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17" name="Google Shape;217;p31"/>
          <p:cNvSpPr txBox="1"/>
          <p:nvPr>
            <p:ph idx="11" type="ftr"/>
          </p:nvPr>
        </p:nvSpPr>
        <p:spPr>
          <a:xfrm>
            <a:off x="914400" y="4629150"/>
            <a:ext cx="4972500" cy="342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
                <a:solidFill>
                  <a:srgbClr val="1F497D"/>
                </a:solidFill>
              </a:rPr>
              <a:t>LogSentinel — AI-Driven Log Anomaly Detector</a:t>
            </a:r>
            <a:endParaRPr>
              <a:solidFill>
                <a:srgbClr val="1F497D"/>
              </a:solidFill>
            </a:endParaRPr>
          </a:p>
        </p:txBody>
      </p:sp>
      <p:sp>
        <p:nvSpPr>
          <p:cNvPr id="218" name="Google Shape;218;p31"/>
          <p:cNvSpPr txBox="1"/>
          <p:nvPr>
            <p:ph idx="10" type="dt"/>
          </p:nvPr>
        </p:nvSpPr>
        <p:spPr>
          <a:xfrm>
            <a:off x="6181007" y="4643438"/>
            <a:ext cx="1905000" cy="357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
                <a:solidFill>
                  <a:srgbClr val="1F497D"/>
                </a:solidFill>
                <a:latin typeface="Times New Roman"/>
                <a:ea typeface="Times New Roman"/>
                <a:cs typeface="Times New Roman"/>
                <a:sym typeface="Times New Roman"/>
              </a:rPr>
              <a:t>08/07/2026</a:t>
            </a:r>
            <a:endParaRPr>
              <a:solidFill>
                <a:srgbClr val="1F497D"/>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2"/>
          <p:cNvSpPr txBox="1"/>
          <p:nvPr>
            <p:ph type="title"/>
          </p:nvPr>
        </p:nvSpPr>
        <p:spPr>
          <a:xfrm>
            <a:off x="603500" y="255554"/>
            <a:ext cx="7772400" cy="857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 sz="3600">
                <a:latin typeface="Times New Roman"/>
                <a:ea typeface="Times New Roman"/>
                <a:cs typeface="Times New Roman"/>
                <a:sym typeface="Times New Roman"/>
              </a:rPr>
              <a:t>Problem definition </a:t>
            </a:r>
            <a:endParaRPr sz="3600">
              <a:latin typeface="Times New Roman"/>
              <a:ea typeface="Times New Roman"/>
              <a:cs typeface="Times New Roman"/>
              <a:sym typeface="Times New Roman"/>
            </a:endParaRPr>
          </a:p>
        </p:txBody>
      </p:sp>
      <p:sp>
        <p:nvSpPr>
          <p:cNvPr id="224" name="Google Shape;224;p32"/>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r>
              <a:rPr lang="en"/>
              <a:t>7</a:t>
            </a:r>
            <a:endParaRPr/>
          </a:p>
        </p:txBody>
      </p:sp>
      <p:sp>
        <p:nvSpPr>
          <p:cNvPr id="225" name="Google Shape;225;p32"/>
          <p:cNvSpPr/>
          <p:nvPr/>
        </p:nvSpPr>
        <p:spPr>
          <a:xfrm>
            <a:off x="545750" y="1043675"/>
            <a:ext cx="7887900" cy="2262000"/>
          </a:xfrm>
          <a:prstGeom prst="rect">
            <a:avLst/>
          </a:prstGeom>
          <a:noFill/>
          <a:ln>
            <a:noFill/>
          </a:ln>
        </p:spPr>
        <p:txBody>
          <a:bodyPr anchorCtr="0" anchor="ctr" bIns="0" lIns="0" spcFirstLastPara="1" rIns="0" wrap="square" tIns="0">
            <a:noAutofit/>
          </a:bodyPr>
          <a:lstStyle/>
          <a:p>
            <a:pPr indent="0" lvl="0" marL="0" rtl="0" algn="just">
              <a:lnSpc>
                <a:spcPct val="150000"/>
              </a:lnSpc>
              <a:spcBef>
                <a:spcPts val="0"/>
              </a:spcBef>
              <a:spcAft>
                <a:spcPts val="0"/>
              </a:spcAft>
              <a:buNone/>
            </a:pPr>
            <a:r>
              <a:rPr lang="en" sz="1200">
                <a:solidFill>
                  <a:schemeClr val="dk1"/>
                </a:solidFill>
                <a:latin typeface="Times New Roman"/>
                <a:ea typeface="Times New Roman"/>
                <a:cs typeface="Times New Roman"/>
                <a:sym typeface="Times New Roman"/>
              </a:rPr>
              <a:t>Modern software systems generate millions of log lines daily, yet the tools used to monitor them remain fundamentally limited. Existing solutions rely on static, manually configured thresholds that trigger alerts only when raw error counts exceed a fixed limit. This approach fails to detect subtle, early-stage failures that manifest as unusual </a:t>
            </a:r>
            <a:r>
              <a:rPr i="1" lang="en" sz="1200">
                <a:solidFill>
                  <a:schemeClr val="dk1"/>
                </a:solidFill>
                <a:latin typeface="Times New Roman"/>
                <a:ea typeface="Times New Roman"/>
                <a:cs typeface="Times New Roman"/>
                <a:sym typeface="Times New Roman"/>
              </a:rPr>
              <a:t>sequences</a:t>
            </a:r>
            <a:r>
              <a:rPr lang="en" sz="1200">
                <a:solidFill>
                  <a:schemeClr val="dk1"/>
                </a:solidFill>
                <a:latin typeface="Times New Roman"/>
                <a:ea typeface="Times New Roman"/>
                <a:cs typeface="Times New Roman"/>
                <a:sym typeface="Times New Roman"/>
              </a:rPr>
              <a:t> of events rather than high volumes of errors. A cascading database timeout involving only three log lines in a never-before-seen order — a pattern that predicts system failure — goes entirely undetected. Meanwhile, normal traffic spikes trigger false alerts repeatedly, causing engineers to develop alert fatigue and begin ignoring notifications altogether. No existing free and open-source tool combines intelligent log parsing, unsupervised sequence learning, real-time risk scoring, and root-cause tracing in a single deployable platform.</a:t>
            </a:r>
            <a:endParaRPr i="0" sz="1200" u="none" cap="none" strike="noStrike">
              <a:solidFill>
                <a:schemeClr val="dk1"/>
              </a:solidFill>
              <a:highlight>
                <a:schemeClr val="lt1"/>
              </a:highlight>
              <a:latin typeface="Times New Roman"/>
              <a:ea typeface="Times New Roman"/>
              <a:cs typeface="Times New Roman"/>
              <a:sym typeface="Times New Roman"/>
            </a:endParaRPr>
          </a:p>
        </p:txBody>
      </p:sp>
      <p:sp>
        <p:nvSpPr>
          <p:cNvPr id="226" name="Google Shape;226;p32"/>
          <p:cNvSpPr txBox="1"/>
          <p:nvPr>
            <p:ph idx="11" type="ftr"/>
          </p:nvPr>
        </p:nvSpPr>
        <p:spPr>
          <a:xfrm>
            <a:off x="914400" y="4629150"/>
            <a:ext cx="5257800" cy="342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
                <a:solidFill>
                  <a:srgbClr val="1F497D"/>
                </a:solidFill>
              </a:rPr>
              <a:t>LogSentinel — AI-Driven Log Anomaly Detector</a:t>
            </a:r>
            <a:endParaRPr>
              <a:solidFill>
                <a:srgbClr val="1F497D"/>
              </a:solidFill>
            </a:endParaRPr>
          </a:p>
        </p:txBody>
      </p:sp>
      <p:sp>
        <p:nvSpPr>
          <p:cNvPr id="227" name="Google Shape;227;p32"/>
          <p:cNvSpPr txBox="1"/>
          <p:nvPr>
            <p:ph idx="10" type="dt"/>
          </p:nvPr>
        </p:nvSpPr>
        <p:spPr>
          <a:xfrm>
            <a:off x="6172200" y="4643438"/>
            <a:ext cx="1905000" cy="357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
                <a:solidFill>
                  <a:srgbClr val="1F497D"/>
                </a:solidFill>
                <a:latin typeface="Times New Roman"/>
                <a:ea typeface="Times New Roman"/>
                <a:cs typeface="Times New Roman"/>
                <a:sym typeface="Times New Roman"/>
              </a:rPr>
              <a:t>08/07/2026</a:t>
            </a:r>
            <a:endParaRPr>
              <a:solidFill>
                <a:srgbClr val="1F497D"/>
              </a:solidFill>
              <a:latin typeface="Times New Roman"/>
              <a:ea typeface="Times New Roman"/>
              <a:cs typeface="Times New Roman"/>
              <a:sym typeface="Times New Roman"/>
            </a:endParaRPr>
          </a:p>
        </p:txBody>
      </p:sp>
      <p:pic>
        <p:nvPicPr>
          <p:cNvPr id="228" name="Google Shape;228;p32"/>
          <p:cNvPicPr preferRelativeResize="0"/>
          <p:nvPr/>
        </p:nvPicPr>
        <p:blipFill rotWithShape="1">
          <a:blip r:embed="rId3">
            <a:alphaModFix/>
          </a:blip>
          <a:srcRect b="0" l="0" r="0" t="0"/>
          <a:stretch/>
        </p:blipFill>
        <p:spPr>
          <a:xfrm>
            <a:off x="8305800" y="4629150"/>
            <a:ext cx="400050" cy="39321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3"/>
          <p:cNvSpPr txBox="1"/>
          <p:nvPr>
            <p:ph type="title"/>
          </p:nvPr>
        </p:nvSpPr>
        <p:spPr>
          <a:xfrm>
            <a:off x="388125" y="-60625"/>
            <a:ext cx="8298600" cy="857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Times New Roman"/>
              <a:buNone/>
            </a:pPr>
            <a:r>
              <a:rPr lang="en" sz="3600">
                <a:latin typeface="Times New Roman"/>
                <a:ea typeface="Times New Roman"/>
                <a:cs typeface="Times New Roman"/>
                <a:sym typeface="Times New Roman"/>
              </a:rPr>
              <a:t>Proposed Solution </a:t>
            </a:r>
            <a:endParaRPr sz="3600">
              <a:latin typeface="Times New Roman"/>
              <a:ea typeface="Times New Roman"/>
              <a:cs typeface="Times New Roman"/>
              <a:sym typeface="Times New Roman"/>
            </a:endParaRPr>
          </a:p>
        </p:txBody>
      </p:sp>
      <p:sp>
        <p:nvSpPr>
          <p:cNvPr id="235" name="Google Shape;235;p33"/>
          <p:cNvSpPr txBox="1"/>
          <p:nvPr>
            <p:ph idx="11" type="ftr"/>
          </p:nvPr>
        </p:nvSpPr>
        <p:spPr>
          <a:xfrm>
            <a:off x="914400" y="4629150"/>
            <a:ext cx="5659200" cy="342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
                <a:solidFill>
                  <a:srgbClr val="1F497D"/>
                </a:solidFill>
              </a:rPr>
              <a:t>LogSentinel — AI-Driven Log Anomaly Detector</a:t>
            </a:r>
            <a:endParaRPr>
              <a:solidFill>
                <a:srgbClr val="1F497D"/>
              </a:solidFill>
            </a:endParaRPr>
          </a:p>
        </p:txBody>
      </p:sp>
      <p:sp>
        <p:nvSpPr>
          <p:cNvPr id="236" name="Google Shape;236;p33"/>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r>
              <a:rPr lang="en"/>
              <a:t>8</a:t>
            </a:r>
            <a:endParaRPr/>
          </a:p>
        </p:txBody>
      </p:sp>
      <p:sp>
        <p:nvSpPr>
          <p:cNvPr id="237" name="Google Shape;237;p33"/>
          <p:cNvSpPr txBox="1"/>
          <p:nvPr>
            <p:ph idx="1" type="body"/>
          </p:nvPr>
        </p:nvSpPr>
        <p:spPr>
          <a:xfrm>
            <a:off x="554875" y="960000"/>
            <a:ext cx="8131800" cy="3879000"/>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Clr>
                <a:srgbClr val="1F1F1F"/>
              </a:buClr>
              <a:buSzPts val="1500"/>
              <a:buFont typeface="Times New Roman"/>
              <a:buNone/>
            </a:pPr>
            <a:r>
              <a:rPr b="1" lang="en" sz="1200">
                <a:latin typeface="Times New Roman"/>
                <a:ea typeface="Times New Roman"/>
                <a:cs typeface="Times New Roman"/>
                <a:sym typeface="Times New Roman"/>
              </a:rPr>
              <a:t>Log-Sentinel</a:t>
            </a:r>
            <a:r>
              <a:rPr lang="en" sz="1200">
                <a:latin typeface="Times New Roman"/>
                <a:ea typeface="Times New Roman"/>
                <a:cs typeface="Times New Roman"/>
                <a:sym typeface="Times New Roman"/>
              </a:rPr>
              <a:t> is proposed as an AI-driven log anomaly detection platform that learns what normal system behavior looks like and alerts when patterns deviate — without any manual rule configuration.</a:t>
            </a:r>
            <a:endParaRPr i="0" sz="1300" u="none" cap="none" strike="noStrike">
              <a:solidFill>
                <a:srgbClr val="1F1F1F"/>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F1F1F"/>
              </a:buClr>
              <a:buSzPts val="1500"/>
              <a:buFont typeface="Times New Roman"/>
              <a:buNone/>
            </a:pPr>
            <a:r>
              <a:t/>
            </a:r>
            <a:endParaRPr sz="1200">
              <a:solidFill>
                <a:srgbClr val="1F1F1F"/>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F1F1F"/>
              </a:buClr>
              <a:buSzPts val="1500"/>
              <a:buFont typeface="Times New Roman"/>
              <a:buNone/>
            </a:pPr>
            <a:r>
              <a:rPr b="1" i="0" lang="en" sz="1200" u="none" cap="none" strike="noStrike">
                <a:solidFill>
                  <a:srgbClr val="1F1F1F"/>
                </a:solidFill>
                <a:latin typeface="Times New Roman"/>
                <a:ea typeface="Times New Roman"/>
                <a:cs typeface="Times New Roman"/>
                <a:sym typeface="Times New Roman"/>
              </a:rPr>
              <a:t>Key Features</a:t>
            </a:r>
            <a:endParaRPr i="0" sz="1200" u="none" cap="none" strike="noStrike">
              <a:solidFill>
                <a:srgbClr val="1F1F1F"/>
              </a:solidFill>
              <a:latin typeface="Times New Roman"/>
              <a:ea typeface="Times New Roman"/>
              <a:cs typeface="Times New Roman"/>
              <a:sym typeface="Times New Roman"/>
            </a:endParaRPr>
          </a:p>
          <a:p>
            <a:pPr indent="-304800" lvl="0" marL="457200" rtl="0" algn="just">
              <a:spcBef>
                <a:spcPts val="0"/>
              </a:spcBef>
              <a:spcAft>
                <a:spcPts val="0"/>
              </a:spcAft>
              <a:buClr>
                <a:srgbClr val="1F1F1F"/>
              </a:buClr>
              <a:buSzPts val="1200"/>
              <a:buFont typeface="Times New Roman"/>
              <a:buChar char="•"/>
            </a:pPr>
            <a:r>
              <a:rPr lang="en" sz="1200">
                <a:solidFill>
                  <a:srgbClr val="1F1F1F"/>
                </a:solidFill>
                <a:latin typeface="Times New Roman"/>
                <a:ea typeface="Times New Roman"/>
                <a:cs typeface="Times New Roman"/>
                <a:sym typeface="Times New Roman"/>
              </a:rPr>
              <a:t>Lightweight Python log agent that collects logs from any application (Python, Java, Node.js) and forwards them to the analysis backend with zero changes to the application code.</a:t>
            </a:r>
            <a:endParaRPr sz="1200">
              <a:solidFill>
                <a:srgbClr val="1F1F1F"/>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304800" lvl="0" marL="457200" rtl="0" algn="just">
              <a:spcBef>
                <a:spcPts val="0"/>
              </a:spcBef>
              <a:spcAft>
                <a:spcPts val="0"/>
              </a:spcAft>
              <a:buClr>
                <a:srgbClr val="1F1F1F"/>
              </a:buClr>
              <a:buSzPts val="1200"/>
              <a:buFont typeface="Times New Roman"/>
              <a:buChar char="•"/>
            </a:pPr>
            <a:r>
              <a:rPr lang="en" sz="1200">
                <a:solidFill>
                  <a:srgbClr val="1F1F1F"/>
                </a:solidFill>
                <a:latin typeface="Times New Roman"/>
                <a:ea typeface="Times New Roman"/>
                <a:cs typeface="Times New Roman"/>
                <a:sym typeface="Times New Roman"/>
              </a:rPr>
              <a:t>Drain3 log parsing engine that converts raw, unstructured log lines into structured templates, normalizing variable data (user IDs, timestamps, IP addresses) into a unified format for ML processing.</a:t>
            </a:r>
            <a:endParaRPr sz="1200">
              <a:solidFill>
                <a:srgbClr val="1F1F1F"/>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304800" lvl="0" marL="457200" rtl="0" algn="just">
              <a:spcBef>
                <a:spcPts val="0"/>
              </a:spcBef>
              <a:spcAft>
                <a:spcPts val="0"/>
              </a:spcAft>
              <a:buClr>
                <a:srgbClr val="1F1F1F"/>
              </a:buClr>
              <a:buSzPts val="1200"/>
              <a:buFont typeface="Times New Roman"/>
              <a:buChar char="•"/>
            </a:pPr>
            <a:r>
              <a:rPr lang="en" sz="1200">
                <a:solidFill>
                  <a:srgbClr val="1F1F1F"/>
                </a:solidFill>
                <a:latin typeface="Times New Roman"/>
                <a:ea typeface="Times New Roman"/>
                <a:cs typeface="Times New Roman"/>
                <a:sym typeface="Times New Roman"/>
              </a:rPr>
              <a:t>LSTM Autoencoder trained on normal log sequences from the HDFS public dataset; detects anomalies by measuring reconstruction error on incoming log windows — high error indicates an unusual pattern.</a:t>
            </a:r>
            <a:endParaRPr sz="1200">
              <a:solidFill>
                <a:srgbClr val="1F1F1F"/>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304800" lvl="0" marL="457200" rtl="0" algn="just">
              <a:spcBef>
                <a:spcPts val="0"/>
              </a:spcBef>
              <a:spcAft>
                <a:spcPts val="0"/>
              </a:spcAft>
              <a:buClr>
                <a:srgbClr val="1F1F1F"/>
              </a:buClr>
              <a:buSzPts val="1200"/>
              <a:buFont typeface="Times New Roman"/>
              <a:buChar char="•"/>
            </a:pPr>
            <a:r>
              <a:rPr lang="en" sz="1200">
                <a:solidFill>
                  <a:srgbClr val="1F1F1F"/>
                </a:solidFill>
                <a:latin typeface="Times New Roman"/>
                <a:ea typeface="Times New Roman"/>
                <a:cs typeface="Times New Roman"/>
                <a:sym typeface="Times New Roman"/>
              </a:rPr>
              <a:t>Real-time risk scoring (0–100) assigned to every log window, streamed live to the dashboard via WebSockets with visual spike alerts when the threshold is exceeded.</a:t>
            </a:r>
            <a:endParaRPr sz="1200">
              <a:solidFill>
                <a:srgbClr val="1F1F1F"/>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304800" lvl="0" marL="457200" rtl="0" algn="just">
              <a:spcBef>
                <a:spcPts val="0"/>
              </a:spcBef>
              <a:spcAft>
                <a:spcPts val="0"/>
              </a:spcAft>
              <a:buClr>
                <a:srgbClr val="1F1F1F"/>
              </a:buClr>
              <a:buSzPts val="1200"/>
              <a:buFont typeface="Times New Roman"/>
              <a:buChar char="•"/>
            </a:pPr>
            <a:r>
              <a:rPr lang="en" sz="1200">
                <a:solidFill>
                  <a:srgbClr val="1F1F1F"/>
                </a:solidFill>
                <a:latin typeface="Times New Roman"/>
                <a:ea typeface="Times New Roman"/>
                <a:cs typeface="Times New Roman"/>
                <a:sym typeface="Times New Roman"/>
              </a:rPr>
              <a:t>Root-cause chain visualization that surfaces the exact sequence of log events leading up to each detected anomaly, enabling engineers to diagnose failures in seconds rather than hours.</a:t>
            </a:r>
            <a:endParaRPr sz="1200">
              <a:solidFill>
                <a:srgbClr val="1F1F1F"/>
              </a:solidFill>
              <a:latin typeface="Times New Roman"/>
              <a:ea typeface="Times New Roman"/>
              <a:cs typeface="Times New Roman"/>
              <a:sym typeface="Times New Roman"/>
            </a:endParaRPr>
          </a:p>
          <a:p>
            <a:pPr indent="0" lvl="0" marL="0" rtl="0" algn="just">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0" lvl="0" marL="0" rtl="0" algn="just">
              <a:spcBef>
                <a:spcPts val="0"/>
              </a:spcBef>
              <a:spcAft>
                <a:spcPts val="0"/>
              </a:spcAft>
              <a:buNone/>
            </a:pPr>
            <a:r>
              <a:t/>
            </a:r>
            <a:endParaRPr sz="1200">
              <a:solidFill>
                <a:srgbClr val="1F1F1F"/>
              </a:solidFill>
              <a:latin typeface="Times New Roman"/>
              <a:ea typeface="Times New Roman"/>
              <a:cs typeface="Times New Roman"/>
              <a:sym typeface="Times New Roman"/>
            </a:endParaRPr>
          </a:p>
          <a:p>
            <a:pPr indent="-76200" lvl="0" marL="0" marR="0" rtl="0" algn="just">
              <a:lnSpc>
                <a:spcPct val="100000"/>
              </a:lnSpc>
              <a:spcBef>
                <a:spcPts val="0"/>
              </a:spcBef>
              <a:spcAft>
                <a:spcPts val="0"/>
              </a:spcAft>
              <a:buClr>
                <a:srgbClr val="1F1F1F"/>
              </a:buClr>
              <a:buSzPts val="1200"/>
              <a:buFont typeface="Times New Roman"/>
              <a:buChar char="•"/>
            </a:pPr>
            <a:r>
              <a:t/>
            </a:r>
            <a:endParaRPr sz="1200">
              <a:solidFill>
                <a:srgbClr val="1F1F1F"/>
              </a:solidFill>
              <a:latin typeface="Times New Roman"/>
              <a:ea typeface="Times New Roman"/>
              <a:cs typeface="Times New Roman"/>
              <a:sym typeface="Times New Roman"/>
            </a:endParaRPr>
          </a:p>
        </p:txBody>
      </p:sp>
      <p:sp>
        <p:nvSpPr>
          <p:cNvPr id="238" name="Google Shape;238;p33"/>
          <p:cNvSpPr txBox="1"/>
          <p:nvPr>
            <p:ph idx="10" type="dt"/>
          </p:nvPr>
        </p:nvSpPr>
        <p:spPr>
          <a:xfrm>
            <a:off x="6172200" y="4643438"/>
            <a:ext cx="1905000" cy="357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
                <a:solidFill>
                  <a:srgbClr val="1F497D"/>
                </a:solidFill>
                <a:latin typeface="Times New Roman"/>
                <a:ea typeface="Times New Roman"/>
                <a:cs typeface="Times New Roman"/>
                <a:sym typeface="Times New Roman"/>
              </a:rPr>
              <a:t>08/07/2026</a:t>
            </a:r>
            <a:endParaRPr>
              <a:solidFill>
                <a:srgbClr val="1F497D"/>
              </a:solidFill>
              <a:latin typeface="Times New Roman"/>
              <a:ea typeface="Times New Roman"/>
              <a:cs typeface="Times New Roman"/>
              <a:sym typeface="Times New Roman"/>
            </a:endParaRPr>
          </a:p>
        </p:txBody>
      </p:sp>
      <p:pic>
        <p:nvPicPr>
          <p:cNvPr id="239" name="Google Shape;239;p33"/>
          <p:cNvPicPr preferRelativeResize="0"/>
          <p:nvPr/>
        </p:nvPicPr>
        <p:blipFill rotWithShape="1">
          <a:blip r:embed="rId3">
            <a:alphaModFix/>
          </a:blip>
          <a:srcRect b="0" l="0" r="0" t="0"/>
          <a:stretch/>
        </p:blipFill>
        <p:spPr>
          <a:xfrm>
            <a:off x="8305800" y="4629150"/>
            <a:ext cx="400050" cy="39321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4"/>
          <p:cNvSpPr txBox="1"/>
          <p:nvPr>
            <p:ph type="title"/>
          </p:nvPr>
        </p:nvSpPr>
        <p:spPr>
          <a:xfrm>
            <a:off x="644650" y="168175"/>
            <a:ext cx="8061300" cy="857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Times New Roman"/>
              <a:buNone/>
            </a:pPr>
            <a:r>
              <a:rPr lang="en">
                <a:latin typeface="Times New Roman"/>
                <a:ea typeface="Times New Roman"/>
                <a:cs typeface="Times New Roman"/>
                <a:sym typeface="Times New Roman"/>
              </a:rPr>
              <a:t>Proposed Solution </a:t>
            </a:r>
            <a:endParaRPr/>
          </a:p>
        </p:txBody>
      </p:sp>
      <p:sp>
        <p:nvSpPr>
          <p:cNvPr id="246" name="Google Shape;246;p34"/>
          <p:cNvSpPr txBox="1"/>
          <p:nvPr>
            <p:ph idx="11" type="ftr"/>
          </p:nvPr>
        </p:nvSpPr>
        <p:spPr>
          <a:xfrm>
            <a:off x="925933" y="4629150"/>
            <a:ext cx="4725000" cy="342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
                <a:solidFill>
                  <a:srgbClr val="1F497D"/>
                </a:solidFill>
              </a:rPr>
              <a:t>LogSentinel — AI-Driven Log Anomaly Detector</a:t>
            </a:r>
            <a:endParaRPr>
              <a:solidFill>
                <a:srgbClr val="1F497D"/>
              </a:solidFill>
            </a:endParaRPr>
          </a:p>
        </p:txBody>
      </p:sp>
      <p:sp>
        <p:nvSpPr>
          <p:cNvPr id="247" name="Google Shape;247;p34"/>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r>
              <a:rPr lang="en"/>
              <a:t>9</a:t>
            </a:r>
            <a:endParaRPr/>
          </a:p>
        </p:txBody>
      </p:sp>
      <p:sp>
        <p:nvSpPr>
          <p:cNvPr id="248" name="Google Shape;248;p34"/>
          <p:cNvSpPr txBox="1"/>
          <p:nvPr>
            <p:ph idx="10" type="dt"/>
          </p:nvPr>
        </p:nvSpPr>
        <p:spPr>
          <a:xfrm>
            <a:off x="6172200" y="4643438"/>
            <a:ext cx="1905000" cy="357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
                <a:solidFill>
                  <a:srgbClr val="1F497D"/>
                </a:solidFill>
                <a:latin typeface="Times New Roman"/>
                <a:ea typeface="Times New Roman"/>
                <a:cs typeface="Times New Roman"/>
                <a:sym typeface="Times New Roman"/>
              </a:rPr>
              <a:t>08/07/2026</a:t>
            </a:r>
            <a:endParaRPr>
              <a:solidFill>
                <a:srgbClr val="1F497D"/>
              </a:solidFill>
              <a:latin typeface="Times New Roman"/>
              <a:ea typeface="Times New Roman"/>
              <a:cs typeface="Times New Roman"/>
              <a:sym typeface="Times New Roman"/>
            </a:endParaRPr>
          </a:p>
        </p:txBody>
      </p:sp>
      <p:pic>
        <p:nvPicPr>
          <p:cNvPr id="249" name="Google Shape;249;p34"/>
          <p:cNvPicPr preferRelativeResize="0"/>
          <p:nvPr/>
        </p:nvPicPr>
        <p:blipFill rotWithShape="1">
          <a:blip r:embed="rId3">
            <a:alphaModFix/>
          </a:blip>
          <a:srcRect b="0" l="0" r="0" t="0"/>
          <a:stretch/>
        </p:blipFill>
        <p:spPr>
          <a:xfrm>
            <a:off x="8305800" y="4629150"/>
            <a:ext cx="400050" cy="393211"/>
          </a:xfrm>
          <a:prstGeom prst="rect">
            <a:avLst/>
          </a:prstGeom>
          <a:noFill/>
          <a:ln>
            <a:noFill/>
          </a:ln>
        </p:spPr>
      </p:pic>
      <p:sp>
        <p:nvSpPr>
          <p:cNvPr id="250" name="Google Shape;250;p34"/>
          <p:cNvSpPr txBox="1"/>
          <p:nvPr/>
        </p:nvSpPr>
        <p:spPr>
          <a:xfrm>
            <a:off x="644650" y="3705650"/>
            <a:ext cx="762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Times New Roman"/>
                <a:ea typeface="Times New Roman"/>
                <a:cs typeface="Times New Roman"/>
                <a:sym typeface="Times New Roman"/>
              </a:rPr>
              <a:t>Fig.1 Architecture of LogSentinel-AI-Driven Log Anomaly Detector</a:t>
            </a:r>
            <a:endParaRPr sz="1200">
              <a:solidFill>
                <a:schemeClr val="dk1"/>
              </a:solidFill>
              <a:latin typeface="Times New Roman"/>
              <a:ea typeface="Times New Roman"/>
              <a:cs typeface="Times New Roman"/>
              <a:sym typeface="Times New Roman"/>
            </a:endParaRPr>
          </a:p>
        </p:txBody>
      </p:sp>
      <p:pic>
        <p:nvPicPr>
          <p:cNvPr descr="remove black bg" id="251" name="Google Shape;251;p34"/>
          <p:cNvPicPr preferRelativeResize="0"/>
          <p:nvPr/>
        </p:nvPicPr>
        <p:blipFill>
          <a:blip r:embed="rId4">
            <a:alphaModFix/>
          </a:blip>
          <a:stretch>
            <a:fillRect/>
          </a:stretch>
        </p:blipFill>
        <p:spPr>
          <a:xfrm>
            <a:off x="644650" y="1344053"/>
            <a:ext cx="7620000" cy="230682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5"/>
          <p:cNvSpPr txBox="1"/>
          <p:nvPr>
            <p:ph type="title"/>
          </p:nvPr>
        </p:nvSpPr>
        <p:spPr>
          <a:xfrm>
            <a:off x="644700" y="307700"/>
            <a:ext cx="7702200" cy="857400"/>
          </a:xfrm>
          <a:prstGeom prst="rect">
            <a:avLst/>
          </a:prstGeom>
          <a:noFill/>
          <a:ln>
            <a:noFill/>
          </a:ln>
        </p:spPr>
        <p:txBody>
          <a:bodyPr anchorCtr="0" anchor="b" bIns="91425" lIns="91425" spcFirstLastPara="1" rIns="91425" wrap="square" tIns="45700">
            <a:normAutofit/>
          </a:bodyPr>
          <a:lstStyle/>
          <a:p>
            <a:pPr indent="0" lvl="0" marL="0" rtl="0" algn="ctr">
              <a:lnSpc>
                <a:spcPct val="100000"/>
              </a:lnSpc>
              <a:spcBef>
                <a:spcPts val="0"/>
              </a:spcBef>
              <a:spcAft>
                <a:spcPts val="0"/>
              </a:spcAft>
              <a:buClr>
                <a:schemeClr val="dk2"/>
              </a:buClr>
              <a:buSzPts val="4000"/>
              <a:buFont typeface="Libre Franklin"/>
              <a:buNone/>
            </a:pPr>
            <a:r>
              <a:rPr lang="en" sz="3600">
                <a:latin typeface="Times New Roman"/>
                <a:ea typeface="Times New Roman"/>
                <a:cs typeface="Times New Roman"/>
                <a:sym typeface="Times New Roman"/>
              </a:rPr>
              <a:t>Conclusion</a:t>
            </a:r>
            <a:endParaRPr sz="3600">
              <a:latin typeface="Times New Roman"/>
              <a:ea typeface="Times New Roman"/>
              <a:cs typeface="Times New Roman"/>
              <a:sym typeface="Times New Roman"/>
            </a:endParaRPr>
          </a:p>
        </p:txBody>
      </p:sp>
      <p:sp>
        <p:nvSpPr>
          <p:cNvPr id="258" name="Google Shape;258;p35"/>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r>
              <a:rPr lang="en"/>
              <a:t>10</a:t>
            </a:r>
            <a:endParaRPr/>
          </a:p>
        </p:txBody>
      </p:sp>
      <p:sp>
        <p:nvSpPr>
          <p:cNvPr id="259" name="Google Shape;259;p35"/>
          <p:cNvSpPr txBox="1"/>
          <p:nvPr>
            <p:ph idx="11" type="ftr"/>
          </p:nvPr>
        </p:nvSpPr>
        <p:spPr>
          <a:xfrm>
            <a:off x="914400" y="4629150"/>
            <a:ext cx="5117100" cy="342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
                <a:solidFill>
                  <a:srgbClr val="1F497D"/>
                </a:solidFill>
              </a:rPr>
              <a:t>LogSentinel — AI-Driven Log Anomaly Detector</a:t>
            </a:r>
            <a:endParaRPr>
              <a:solidFill>
                <a:srgbClr val="1F497D"/>
              </a:solidFill>
            </a:endParaRPr>
          </a:p>
        </p:txBody>
      </p:sp>
      <p:sp>
        <p:nvSpPr>
          <p:cNvPr id="260" name="Google Shape;260;p35"/>
          <p:cNvSpPr txBox="1"/>
          <p:nvPr>
            <p:ph idx="10" type="dt"/>
          </p:nvPr>
        </p:nvSpPr>
        <p:spPr>
          <a:xfrm>
            <a:off x="6172200" y="4643438"/>
            <a:ext cx="1905000" cy="357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
                <a:solidFill>
                  <a:srgbClr val="1F497D"/>
                </a:solidFill>
                <a:latin typeface="Times New Roman"/>
                <a:ea typeface="Times New Roman"/>
                <a:cs typeface="Times New Roman"/>
                <a:sym typeface="Times New Roman"/>
              </a:rPr>
              <a:t>08/07/2026</a:t>
            </a:r>
            <a:endParaRPr>
              <a:solidFill>
                <a:srgbClr val="1F497D"/>
              </a:solidFill>
              <a:latin typeface="Times New Roman"/>
              <a:ea typeface="Times New Roman"/>
              <a:cs typeface="Times New Roman"/>
              <a:sym typeface="Times New Roman"/>
            </a:endParaRPr>
          </a:p>
        </p:txBody>
      </p:sp>
      <p:pic>
        <p:nvPicPr>
          <p:cNvPr id="261" name="Google Shape;261;p35"/>
          <p:cNvPicPr preferRelativeResize="0"/>
          <p:nvPr/>
        </p:nvPicPr>
        <p:blipFill rotWithShape="1">
          <a:blip r:embed="rId3">
            <a:alphaModFix/>
          </a:blip>
          <a:srcRect b="0" l="0" r="0" t="0"/>
          <a:stretch/>
        </p:blipFill>
        <p:spPr>
          <a:xfrm>
            <a:off x="8305800" y="4629150"/>
            <a:ext cx="400050" cy="393211"/>
          </a:xfrm>
          <a:prstGeom prst="rect">
            <a:avLst/>
          </a:prstGeom>
          <a:noFill/>
          <a:ln>
            <a:noFill/>
          </a:ln>
        </p:spPr>
      </p:pic>
      <p:sp>
        <p:nvSpPr>
          <p:cNvPr id="262" name="Google Shape;262;p35"/>
          <p:cNvSpPr txBox="1"/>
          <p:nvPr/>
        </p:nvSpPr>
        <p:spPr>
          <a:xfrm>
            <a:off x="603500" y="1375350"/>
            <a:ext cx="7743300" cy="1856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200">
                <a:latin typeface="Times New Roman"/>
                <a:ea typeface="Times New Roman"/>
                <a:cs typeface="Times New Roman"/>
                <a:sym typeface="Times New Roman"/>
              </a:rPr>
              <a:t>LogSentinel is proposed as a lightweight, AI-powered log monitoring platform that addresses the fundamental limitations of existing rule-based tools. By combining Drain3 log parsing, LSTM Autoencoder-based sequence modeling, and real-time WebSocket delivery, the system detects failure patterns invisible to static threshold methods — including subtle, early-stage anomalies that precede full outages by minutes. The platform is trained and evaluated on the publicly available, ground-truth-labeled HDFS dataset, enabling rigorous, reproducible comparison against a tuned baseline. Its lightweight stack (FastAPI + PostgreSQL + React) avoids the infrastructure overhead of enterprise solutions like ELK, making it deployable on standard hardware. LogSentinel has the potential to significantly reduce mean time to detection, eliminate alert fatigue, and make intelligent log monitoring accessible to engineering teams of any size — at zero cost.</a:t>
            </a:r>
            <a:endParaRPr sz="1200">
              <a:solidFill>
                <a:schemeClr val="dk1"/>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6"/>
          <p:cNvSpPr txBox="1"/>
          <p:nvPr>
            <p:ph type="title"/>
          </p:nvPr>
        </p:nvSpPr>
        <p:spPr>
          <a:xfrm>
            <a:off x="606600" y="-31550"/>
            <a:ext cx="7930800" cy="857400"/>
          </a:xfrm>
          <a:prstGeom prst="rect">
            <a:avLst/>
          </a:prstGeom>
          <a:noFill/>
          <a:ln>
            <a:noFill/>
          </a:ln>
        </p:spPr>
        <p:txBody>
          <a:bodyPr anchorCtr="0" anchor="b" bIns="91425"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lang="en" sz="3600">
                <a:latin typeface="Times New Roman"/>
                <a:ea typeface="Times New Roman"/>
                <a:cs typeface="Times New Roman"/>
                <a:sym typeface="Times New Roman"/>
              </a:rPr>
              <a:t>References</a:t>
            </a:r>
            <a:endParaRPr/>
          </a:p>
        </p:txBody>
      </p:sp>
      <p:sp>
        <p:nvSpPr>
          <p:cNvPr id="269" name="Google Shape;269;p36"/>
          <p:cNvSpPr txBox="1"/>
          <p:nvPr>
            <p:ph idx="11" type="ftr"/>
          </p:nvPr>
        </p:nvSpPr>
        <p:spPr>
          <a:xfrm flipH="1">
            <a:off x="914400" y="4659025"/>
            <a:ext cx="5970600" cy="264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t/>
            </a:r>
            <a:endParaRPr/>
          </a:p>
          <a:p>
            <a:pPr indent="0" lvl="0" marL="0" rtl="0" algn="l">
              <a:spcBef>
                <a:spcPts val="0"/>
              </a:spcBef>
              <a:spcAft>
                <a:spcPts val="0"/>
              </a:spcAft>
              <a:buClr>
                <a:schemeClr val="dk1"/>
              </a:buClr>
              <a:buSzPts val="1400"/>
              <a:buFont typeface="Arial"/>
              <a:buNone/>
            </a:pPr>
            <a:r>
              <a:rPr lang="en"/>
              <a:t>LogSentinel — AI-Driven Log Anomaly Detector</a:t>
            </a:r>
            <a:endParaRPr/>
          </a:p>
          <a:p>
            <a:pPr indent="0" lvl="0" marL="0" rtl="0" algn="l">
              <a:lnSpc>
                <a:spcPct val="100000"/>
              </a:lnSpc>
              <a:spcBef>
                <a:spcPts val="0"/>
              </a:spcBef>
              <a:spcAft>
                <a:spcPts val="0"/>
              </a:spcAft>
              <a:buSzPts val="1400"/>
              <a:buNone/>
            </a:pPr>
            <a:r>
              <a:t/>
            </a:r>
            <a:endParaRPr>
              <a:solidFill>
                <a:srgbClr val="1F497D"/>
              </a:solidFill>
            </a:endParaRPr>
          </a:p>
        </p:txBody>
      </p:sp>
      <p:sp>
        <p:nvSpPr>
          <p:cNvPr id="270" name="Google Shape;270;p36"/>
          <p:cNvSpPr/>
          <p:nvPr>
            <p:ph idx="12" type="sldNum"/>
          </p:nvPr>
        </p:nvSpPr>
        <p:spPr>
          <a:xfrm>
            <a:off x="146304" y="4657725"/>
            <a:ext cx="457200" cy="342900"/>
          </a:xfrm>
          <a:prstGeom prst="ellipse">
            <a:avLst/>
          </a:prstGeom>
          <a:solidFill>
            <a:schemeClr val="accent1"/>
          </a:solidFill>
          <a:ln>
            <a:noFill/>
          </a:ln>
        </p:spPr>
        <p:txBody>
          <a:bodyPr anchorCtr="1" anchor="ctr" bIns="0" lIns="0" spcFirstLastPara="1" rIns="0" wrap="square" tIns="0">
            <a:noAutofit/>
          </a:bodyPr>
          <a:lstStyle/>
          <a:p>
            <a:pPr indent="0" lvl="0" marL="0" rtl="0" algn="ctr">
              <a:lnSpc>
                <a:spcPct val="100000"/>
              </a:lnSpc>
              <a:spcBef>
                <a:spcPts val="0"/>
              </a:spcBef>
              <a:spcAft>
                <a:spcPts val="0"/>
              </a:spcAft>
              <a:buSzPts val="1400"/>
              <a:buNone/>
            </a:pPr>
            <a:r>
              <a:rPr lang="en"/>
              <a:t>11</a:t>
            </a:r>
            <a:endParaRPr/>
          </a:p>
        </p:txBody>
      </p:sp>
      <p:sp>
        <p:nvSpPr>
          <p:cNvPr id="271" name="Google Shape;271;p36"/>
          <p:cNvSpPr txBox="1"/>
          <p:nvPr>
            <p:ph idx="1" type="body"/>
          </p:nvPr>
        </p:nvSpPr>
        <p:spPr>
          <a:xfrm>
            <a:off x="603500" y="825850"/>
            <a:ext cx="8083200" cy="35862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0"/>
              </a:spcAft>
              <a:buClr>
                <a:schemeClr val="dk1"/>
              </a:buClr>
              <a:buSzPts val="1100"/>
              <a:buFont typeface="Arial"/>
              <a:buNone/>
            </a:pPr>
            <a:r>
              <a:rPr lang="en" sz="1200">
                <a:latin typeface="Times New Roman"/>
                <a:ea typeface="Times New Roman"/>
                <a:cs typeface="Times New Roman"/>
                <a:sym typeface="Times New Roman"/>
              </a:rPr>
              <a:t>[1]  M. Du, F. Li, G. Zheng, and V. Srikumar, "DeepLog: Anomaly detection and diagnosis from system logs through deep learning," </a:t>
            </a:r>
            <a:r>
              <a:rPr i="1" lang="en" sz="1200">
                <a:latin typeface="Times New Roman"/>
                <a:ea typeface="Times New Roman"/>
                <a:cs typeface="Times New Roman"/>
                <a:sym typeface="Times New Roman"/>
              </a:rPr>
              <a:t>Proceedings of the ACM SIGSAC Conference on Computer and Communications Security (CCS)</a:t>
            </a:r>
            <a:r>
              <a:rPr lang="en" sz="1200">
                <a:latin typeface="Times New Roman"/>
                <a:ea typeface="Times New Roman"/>
                <a:cs typeface="Times New Roman"/>
                <a:sym typeface="Times New Roman"/>
              </a:rPr>
              <a:t>, pp. 1285–1298, 2017, doi: 10.1145/3133956.3134015.</a:t>
            </a:r>
            <a:endParaRPr sz="1300">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 sz="1200">
                <a:latin typeface="Times New Roman"/>
                <a:ea typeface="Times New Roman"/>
                <a:cs typeface="Times New Roman"/>
                <a:sym typeface="Times New Roman"/>
              </a:rPr>
              <a:t>[2]  W. Meng et al., "LogAnomaly: Unsupervised detection of sequential and quantitative anomalies in unstructured logs," </a:t>
            </a:r>
            <a:r>
              <a:rPr i="1" lang="en" sz="1200">
                <a:latin typeface="Times New Roman"/>
                <a:ea typeface="Times New Roman"/>
                <a:cs typeface="Times New Roman"/>
                <a:sym typeface="Times New Roman"/>
              </a:rPr>
              <a:t>Proceedings of the 28th International Joint Conference on Artificial Intelligence (IJCAI)</a:t>
            </a:r>
            <a:r>
              <a:rPr lang="en" sz="1200">
                <a:latin typeface="Times New Roman"/>
                <a:ea typeface="Times New Roman"/>
                <a:cs typeface="Times New Roman"/>
                <a:sym typeface="Times New Roman"/>
              </a:rPr>
              <a:t>, pp. 4739–4745, 2019.</a:t>
            </a:r>
            <a:endParaRPr sz="1300">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 sz="1200">
                <a:latin typeface="Times New Roman"/>
                <a:ea typeface="Times New Roman"/>
                <a:cs typeface="Times New Roman"/>
                <a:sym typeface="Times New Roman"/>
              </a:rPr>
              <a:t>[3]  J. Zhu, S. He, P. He, J. Liu, and M. R. Lyu, "Loghub: A large collection of system log datasets for AI-driven log analytics," </a:t>
            </a:r>
            <a:r>
              <a:rPr i="1" lang="en" sz="1200">
                <a:latin typeface="Times New Roman"/>
                <a:ea typeface="Times New Roman"/>
                <a:cs typeface="Times New Roman"/>
                <a:sym typeface="Times New Roman"/>
              </a:rPr>
              <a:t>IEEE International Symposium on Software Reliability Engineering (ISSRE)</a:t>
            </a:r>
            <a:r>
              <a:rPr lang="en" sz="1200">
                <a:latin typeface="Times New Roman"/>
                <a:ea typeface="Times New Roman"/>
                <a:cs typeface="Times New Roman"/>
                <a:sym typeface="Times New Roman"/>
              </a:rPr>
              <a:t>, 2023, doi: 10.1109/ISSRE59848.2023.00012.</a:t>
            </a:r>
            <a:endParaRPr sz="1200">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 sz="1200">
                <a:latin typeface="Times New Roman"/>
                <a:ea typeface="Times New Roman"/>
                <a:cs typeface="Times New Roman"/>
                <a:sym typeface="Times New Roman"/>
              </a:rPr>
              <a:t>[4]  M. Landauer, S. Onder, F. Skopik, and M. Wurzenberger, "Deep learning for anomaly detection in log data: A survey," </a:t>
            </a:r>
            <a:r>
              <a:rPr i="1" lang="en" sz="1200">
                <a:latin typeface="Times New Roman"/>
                <a:ea typeface="Times New Roman"/>
                <a:cs typeface="Times New Roman"/>
                <a:sym typeface="Times New Roman"/>
              </a:rPr>
              <a:t>Machine Learning with Applications</a:t>
            </a:r>
            <a:r>
              <a:rPr lang="en" sz="1200">
                <a:latin typeface="Times New Roman"/>
                <a:ea typeface="Times New Roman"/>
                <a:cs typeface="Times New Roman"/>
                <a:sym typeface="Times New Roman"/>
              </a:rPr>
              <a:t>, vol. 12, Art. no. 100429, 2023, doi: 10.1016/j.mlwa.2023.100429.</a:t>
            </a:r>
            <a:endParaRPr sz="1200">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 sz="1200">
                <a:latin typeface="Times New Roman"/>
                <a:ea typeface="Times New Roman"/>
                <a:cs typeface="Times New Roman"/>
                <a:sym typeface="Times New Roman"/>
              </a:rPr>
              <a:t>[5]  P. He, J. Zhu, S. He, J. Li, and M. R. Lyu, "Drain: An online log parsing approach with fixed depth tree," </a:t>
            </a:r>
            <a:r>
              <a:rPr i="1" lang="en" sz="1200">
                <a:latin typeface="Times New Roman"/>
                <a:ea typeface="Times New Roman"/>
                <a:cs typeface="Times New Roman"/>
                <a:sym typeface="Times New Roman"/>
              </a:rPr>
              <a:t>IEEE International Conference on Web Services (ICWS)</a:t>
            </a:r>
            <a:r>
              <a:rPr lang="en" sz="1200">
                <a:latin typeface="Times New Roman"/>
                <a:ea typeface="Times New Roman"/>
                <a:cs typeface="Times New Roman"/>
                <a:sym typeface="Times New Roman"/>
              </a:rPr>
              <a:t>, pp. 33–40, 2017, doi: 10.1109/ICWS.2017.13.</a:t>
            </a:r>
            <a:endParaRPr sz="1200">
              <a:latin typeface="Times New Roman"/>
              <a:ea typeface="Times New Roman"/>
              <a:cs typeface="Times New Roman"/>
              <a:sym typeface="Times New Roman"/>
            </a:endParaRPr>
          </a:p>
          <a:p>
            <a:pPr indent="0" lvl="0" marL="0" rtl="0" algn="just">
              <a:lnSpc>
                <a:spcPct val="115000"/>
              </a:lnSpc>
              <a:spcBef>
                <a:spcPts val="1200"/>
              </a:spcBef>
              <a:spcAft>
                <a:spcPts val="1200"/>
              </a:spcAft>
              <a:buClr>
                <a:schemeClr val="dk1"/>
              </a:buClr>
              <a:buSzPts val="1100"/>
              <a:buFont typeface="Arial"/>
              <a:buNone/>
            </a:pPr>
            <a:r>
              <a:t/>
            </a:r>
            <a:endParaRPr sz="1200">
              <a:latin typeface="Times New Roman"/>
              <a:ea typeface="Times New Roman"/>
              <a:cs typeface="Times New Roman"/>
              <a:sym typeface="Times New Roman"/>
            </a:endParaRPr>
          </a:p>
        </p:txBody>
      </p:sp>
      <p:sp>
        <p:nvSpPr>
          <p:cNvPr id="272" name="Google Shape;272;p36"/>
          <p:cNvSpPr txBox="1"/>
          <p:nvPr>
            <p:ph idx="10" type="dt"/>
          </p:nvPr>
        </p:nvSpPr>
        <p:spPr>
          <a:xfrm>
            <a:off x="6172200" y="4643438"/>
            <a:ext cx="1905000" cy="357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en">
                <a:solidFill>
                  <a:srgbClr val="1F497D"/>
                </a:solidFill>
                <a:latin typeface="Times New Roman"/>
                <a:ea typeface="Times New Roman"/>
                <a:cs typeface="Times New Roman"/>
                <a:sym typeface="Times New Roman"/>
              </a:rPr>
              <a:t>08/07/2026</a:t>
            </a:r>
            <a:endParaRPr>
              <a:solidFill>
                <a:srgbClr val="1F497D"/>
              </a:solidFill>
              <a:latin typeface="Times New Roman"/>
              <a:ea typeface="Times New Roman"/>
              <a:cs typeface="Times New Roman"/>
              <a:sym typeface="Times New Roman"/>
            </a:endParaRPr>
          </a:p>
        </p:txBody>
      </p:sp>
      <p:pic>
        <p:nvPicPr>
          <p:cNvPr id="273" name="Google Shape;273;p36"/>
          <p:cNvPicPr preferRelativeResize="0"/>
          <p:nvPr/>
        </p:nvPicPr>
        <p:blipFill rotWithShape="1">
          <a:blip r:embed="rId3">
            <a:alphaModFix/>
          </a:blip>
          <a:srcRect b="0" l="0" r="0" t="0"/>
          <a:stretch/>
        </p:blipFill>
        <p:spPr>
          <a:xfrm>
            <a:off x="8305800" y="4629150"/>
            <a:ext cx="400050" cy="39321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Equity">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